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7" r:id="rId9"/>
    <p:sldId id="262" r:id="rId10"/>
    <p:sldId id="263" r:id="rId11"/>
    <p:sldId id="268" r:id="rId1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jjDdjNFoi+xjUiqIqv79dYRrq6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79FFF"/>
    <a:srgbClr val="3796FF"/>
    <a:srgbClr val="B5D9FF"/>
    <a:srgbClr val="B4D8FF"/>
    <a:srgbClr val="93C6FF"/>
    <a:srgbClr val="88CFE8"/>
    <a:srgbClr val="2497C0"/>
    <a:srgbClr val="2F5E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915D60-2A3D-43AC-8374-F7FA46C654D1}" v="897" dt="2026-03-05T18:27:12.4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60" autoAdjust="0"/>
  </p:normalViewPr>
  <p:slideViewPr>
    <p:cSldViewPr snapToGrid="0">
      <p:cViewPr varScale="1">
        <p:scale>
          <a:sx n="101" d="100"/>
          <a:sy n="101" d="100"/>
        </p:scale>
        <p:origin x="138" y="15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FFD633-CC68-4114-96C3-00B29DE1F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CD84C5F-6AFD-40B6-B0B2-1EF05049D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D6F22F5-036D-4DC4-99EC-914A603CA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557E485-67FA-4377-8693-DBD8C392F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6DC82B3-8CB9-49C8-A55C-3D3A1346E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0643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105664-6A55-42E3-9880-E790885E5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7D9E1C6-B8B6-4E81-B31E-3A93181A0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C27E3A6-3A8B-4DA5-BED7-5E1EBECE7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88A4338-3ADC-438B-A5C2-43C2C8EC2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B78FA53-65A4-46A4-BD02-A6108EC7B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  <p:sp>
        <p:nvSpPr>
          <p:cNvPr id="10" name="Téglalap 9">
            <a:extLst>
              <a:ext uri="{FF2B5EF4-FFF2-40B4-BE49-F238E27FC236}">
                <a16:creationId xmlns:a16="http://schemas.microsoft.com/office/drawing/2014/main" id="{11E80D90-5456-4FC9-9A94-4D6EB0CDABD7}"/>
              </a:ext>
            </a:extLst>
          </p:cNvPr>
          <p:cNvSpPr/>
          <p:nvPr userDrawn="1"/>
        </p:nvSpPr>
        <p:spPr>
          <a:xfrm rot="2301359">
            <a:off x="9156113" y="-550108"/>
            <a:ext cx="4311205" cy="2115149"/>
          </a:xfrm>
          <a:prstGeom prst="rect">
            <a:avLst/>
          </a:prstGeom>
          <a:solidFill>
            <a:srgbClr val="B5D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Téglalap 10">
            <a:extLst>
              <a:ext uri="{FF2B5EF4-FFF2-40B4-BE49-F238E27FC236}">
                <a16:creationId xmlns:a16="http://schemas.microsoft.com/office/drawing/2014/main" id="{E80C4DBF-3208-4837-A0FD-FE5FCB28E5DE}"/>
              </a:ext>
            </a:extLst>
          </p:cNvPr>
          <p:cNvSpPr/>
          <p:nvPr userDrawn="1"/>
        </p:nvSpPr>
        <p:spPr>
          <a:xfrm rot="2301359">
            <a:off x="-649443" y="6214605"/>
            <a:ext cx="2066250" cy="1013737"/>
          </a:xfrm>
          <a:prstGeom prst="rect">
            <a:avLst/>
          </a:prstGeom>
          <a:solidFill>
            <a:srgbClr val="479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33344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CFCC0F1-75AD-4A70-AF96-59A648568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DA8C35C-82E9-4512-BAAA-9AF7AE5CF8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8A4F817-4FFE-46A8-B71A-057D00289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B35825E-A5DA-4B9E-AA19-671323D47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23B71-473F-416C-B4AA-8B44609B5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16377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ACA8CE-048E-44D4-8E80-33AB60A6A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9066C06-8F01-49CF-A9E6-9628733873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1FB9950-A47D-4086-A756-605CD0684B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655FEFC-96CA-47B9-9B3B-DB1E12CF2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83E868C-DB03-4A7B-B1E9-F408BC8D0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F63EB8D-CDE7-434A-86D4-C4917BDD3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7682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DE9ADBE-CCE1-41D3-85FD-EC971D2B7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C4947FD-0FFE-4ED9-A73D-A0CD454BA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3C99556-B102-4A4D-B230-17126DAA0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144CB5EE-7F2D-439A-AE30-D9E1469B4B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6425D20-434A-4083-A7FB-7D2A438A7B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C35E17B-5254-40A7-8B56-95689B33E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4D3A4F3-5D2D-4784-8AF4-EB1E1C1C3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C0AA073-8AAD-4F10-A671-B0E90B6AF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08357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E8BCC7-ECE5-4C26-9E0D-846DE5577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7093C0E-5961-4B87-8BE6-E909F99B8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7960C5B-8923-4D1A-9013-9AB7AC859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CA18BCB-03FD-42D6-9B8E-B904AEF3A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67219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B212F7B-91F9-4AE0-A40A-13757E9B1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56DFB8D-8F6D-4E22-9860-112ECAC3C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391D877-3404-4F91-B52F-E6576FA0B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9778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75FEEA9-02C7-48BB-821C-623CBD02E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B0A706A-ECF8-4A0B-A972-7FFFFB813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271BDC0-4DC9-4566-91B8-DC4ACA404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2DF4440-49B2-40B6-9907-80F30AA35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05D3915-A22D-4292-81E2-CEFD63C6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034EA76-17B7-4B07-B408-5A043A7E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624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C11699A-7462-44AD-9250-C35714C8B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5409D27E-FBC3-4DD4-8881-D326BE32DB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5739426-757B-44DC-B7E5-E89E0E7C3A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3D3D529-EAB3-4B4D-8416-C9FE69EE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3E988AE-E90C-4A6A-8BD1-BB10D02E4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9A06CB2-581C-470B-BD5C-373107505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0299850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F5A298-72E2-49B4-A107-29A2D6A1A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403EF94-8ABE-4726-BC0E-74EE2040F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7384933-A953-42CA-B377-E6C442414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593F175-13CB-445D-B430-A9556C60A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3B7381D-7B26-482B-A74F-07F8F3D32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855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48D4F315-29B1-42AC-BE3E-2097DEEA88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B672C6C-585E-4721-9ABC-FA2D641F98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57123F-41D0-45B4-A486-08502E3B1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46B2070-DF67-4DA4-94BD-23237CF7D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BB7A9B4-5D13-4ED3-9E1A-C9B90582D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6751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068B159-6433-499E-B5FB-D371F0BB6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5B4F160-A0D5-46AE-85E4-69081CE48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A113D77-E7EE-41EC-8455-FB6034D506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B06C95C-98F0-414D-B8B2-02A1B605E4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CA53C28-91FE-4DBC-9722-E9A52A15F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85825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3.pn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Ábra 7">
            <a:extLst>
              <a:ext uri="{FF2B5EF4-FFF2-40B4-BE49-F238E27FC236}">
                <a16:creationId xmlns:a16="http://schemas.microsoft.com/office/drawing/2014/main" id="{7D33FE9B-3A88-4257-8ACC-AF237582657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8600" y="1219200"/>
            <a:ext cx="4286407" cy="4419600"/>
          </a:xfrm>
          <a:prstGeom prst="rect">
            <a:avLst/>
          </a:prstGeom>
        </p:spPr>
      </p:pic>
      <p:sp>
        <p:nvSpPr>
          <p:cNvPr id="21" name="Google Shape;87;p1">
            <a:extLst>
              <a:ext uri="{FF2B5EF4-FFF2-40B4-BE49-F238E27FC236}">
                <a16:creationId xmlns:a16="http://schemas.microsoft.com/office/drawing/2014/main" id="{02D4799D-8EF7-41DA-B325-C367E9CE69CE}"/>
              </a:ext>
            </a:extLst>
          </p:cNvPr>
          <p:cNvSpPr txBox="1">
            <a:spLocks/>
          </p:cNvSpPr>
          <p:nvPr/>
        </p:nvSpPr>
        <p:spPr>
          <a:xfrm>
            <a:off x="3235430" y="4669846"/>
            <a:ext cx="5721141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spcBef>
                <a:spcPts val="0"/>
              </a:spcBef>
            </a:pPr>
            <a:r>
              <a:rPr lang="hu-HU" dirty="0">
                <a:latin typeface="Cambria"/>
                <a:ea typeface="Cambria"/>
              </a:rPr>
              <a:t>Készítették: </a:t>
            </a:r>
            <a:endParaRPr lang="hu-HU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>
              <a:spcBef>
                <a:spcPts val="0"/>
              </a:spcBef>
            </a:pPr>
            <a:r>
              <a:rPr lang="hu-HU" dirty="0">
                <a:latin typeface="Cambria"/>
                <a:ea typeface="Cambria"/>
              </a:rPr>
              <a:t>Mészáros Imre, </a:t>
            </a:r>
            <a:r>
              <a:rPr lang="hu-HU" dirty="0" err="1">
                <a:latin typeface="Cambria"/>
                <a:ea typeface="Cambria"/>
              </a:rPr>
              <a:t>Gubek</a:t>
            </a:r>
            <a:r>
              <a:rPr lang="hu-HU" dirty="0">
                <a:latin typeface="Cambria"/>
                <a:ea typeface="Cambria"/>
              </a:rPr>
              <a:t>-Szabó Tamás</a:t>
            </a: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E3034C36-D15F-4CDB-9B29-92D383F4064B}"/>
              </a:ext>
            </a:extLst>
          </p:cNvPr>
          <p:cNvSpPr txBox="1"/>
          <p:nvPr/>
        </p:nvSpPr>
        <p:spPr>
          <a:xfrm>
            <a:off x="2962770" y="2394820"/>
            <a:ext cx="626645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0800" dirty="0">
                <a:solidFill>
                  <a:srgbClr val="479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Corelytics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Ábra 12">
            <a:extLst>
              <a:ext uri="{FF2B5EF4-FFF2-40B4-BE49-F238E27FC236}">
                <a16:creationId xmlns:a16="http://schemas.microsoft.com/office/drawing/2014/main" id="{729D7A69-9940-4747-AFBA-384F44A8962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2" name="Téglalap 11">
            <a:extLst>
              <a:ext uri="{FF2B5EF4-FFF2-40B4-BE49-F238E27FC236}">
                <a16:creationId xmlns:a16="http://schemas.microsoft.com/office/drawing/2014/main" id="{6DD3400B-8620-483E-AF5F-1EA6140AD060}"/>
              </a:ext>
            </a:extLst>
          </p:cNvPr>
          <p:cNvSpPr/>
          <p:nvPr/>
        </p:nvSpPr>
        <p:spPr>
          <a:xfrm>
            <a:off x="1644275" y="3574934"/>
            <a:ext cx="8865348" cy="841469"/>
          </a:xfrm>
          <a:prstGeom prst="rect">
            <a:avLst/>
          </a:prstGeom>
          <a:solidFill>
            <a:srgbClr val="93C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3AB089C9-98D5-4C81-A6B0-2CFBC0D4E157}"/>
              </a:ext>
            </a:extLst>
          </p:cNvPr>
          <p:cNvSpPr/>
          <p:nvPr/>
        </p:nvSpPr>
        <p:spPr>
          <a:xfrm>
            <a:off x="1644275" y="2725310"/>
            <a:ext cx="8865348" cy="841469"/>
          </a:xfrm>
          <a:prstGeom prst="rect">
            <a:avLst/>
          </a:prstGeom>
          <a:solidFill>
            <a:srgbClr val="479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8" name="Google Shape;98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/>
                <a:ea typeface="Cambria"/>
                <a:cs typeface="Cambria"/>
                <a:sym typeface="Cambria"/>
              </a:rPr>
              <a:t>Bevezetés</a:t>
            </a: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: Probléma és Megoldás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05" name="Google Shape;105;p2"/>
          <p:cNvSpPr txBox="1">
            <a:spLocks noGrp="1"/>
          </p:cNvSpPr>
          <p:nvPr>
            <p:ph idx="1"/>
          </p:nvPr>
        </p:nvSpPr>
        <p:spPr>
          <a:xfrm>
            <a:off x="1453273" y="1712789"/>
            <a:ext cx="9056350" cy="82487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700" b="1" dirty="0">
                <a:latin typeface="Times New Roman"/>
                <a:ea typeface="Times New Roman"/>
                <a:cs typeface="Times New Roman"/>
                <a:sym typeface="Times New Roman"/>
              </a:rPr>
              <a:t>Projekt név:</a:t>
            </a:r>
            <a:r>
              <a:rPr lang="hu-HU" sz="1700" dirty="0">
                <a:latin typeface="Times New Roman"/>
                <a:ea typeface="Times New Roman"/>
                <a:cs typeface="Times New Roman"/>
                <a:sym typeface="Times New Roman"/>
              </a:rPr>
              <a:t> Corelytics</a:t>
            </a:r>
          </a:p>
          <a:p>
            <a:pPr marL="2286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700" b="1" dirty="0">
                <a:latin typeface="Times New Roman"/>
                <a:ea typeface="Times New Roman"/>
                <a:cs typeface="Times New Roman"/>
                <a:sym typeface="Times New Roman"/>
              </a:rPr>
              <a:t>Cél: E</a:t>
            </a:r>
            <a:r>
              <a:rPr lang="hu-HU" sz="1700" dirty="0">
                <a:latin typeface="Times New Roman"/>
                <a:ea typeface="Times New Roman"/>
                <a:cs typeface="Times New Roman"/>
                <a:sym typeface="Times New Roman"/>
              </a:rPr>
              <a:t>gy egységes és egyszerű edzés és étel naplózó weboldal és applikáció.</a:t>
            </a:r>
            <a:endParaRPr lang="hu-HU" sz="1700" dirty="0">
              <a:latin typeface="Cambria" panose="02040503050406030204" pitchFamily="18" charset="0"/>
              <a:ea typeface="Cambria" panose="02040503050406030204" pitchFamily="18" charset="0"/>
              <a:cs typeface="Times New Roman"/>
              <a:sym typeface="Times New Roman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453272" y="2725310"/>
            <a:ext cx="7575673" cy="565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>
              <a:lnSpc>
                <a:spcPct val="90000"/>
              </a:lnSpc>
            </a:pPr>
            <a:r>
              <a:rPr lang="hu-HU" sz="17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Probléma</a:t>
            </a:r>
            <a:br>
              <a:rPr lang="en-US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hu-HU" sz="1700" b="1" dirty="0">
                <a:solidFill>
                  <a:schemeClr val="bg1"/>
                </a:solidFill>
                <a:latin typeface="Times New Roman"/>
                <a:ea typeface="Calibri"/>
                <a:cs typeface="Times New Roman"/>
              </a:rPr>
              <a:t>Különböző naplózási alkalmazások, hiányzó vagy túlkomplikált funkciókkal.</a:t>
            </a:r>
          </a:p>
        </p:txBody>
      </p:sp>
      <p:sp>
        <p:nvSpPr>
          <p:cNvPr id="104" name="Google Shape;104;p2"/>
          <p:cNvSpPr txBox="1"/>
          <p:nvPr/>
        </p:nvSpPr>
        <p:spPr>
          <a:xfrm>
            <a:off x="1644275" y="3633348"/>
            <a:ext cx="8903449" cy="599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algn="r">
              <a:lnSpc>
                <a:spcPct val="90000"/>
              </a:lnSpc>
            </a:pPr>
            <a:r>
              <a:rPr lang="hu-HU" sz="17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Megoldás</a:t>
            </a:r>
            <a:br>
              <a:rPr lang="hu-HU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hu-HU" sz="1700" b="1" dirty="0">
                <a:solidFill>
                  <a:schemeClr val="dk1"/>
                </a:solidFill>
                <a:latin typeface="Times New Roman"/>
                <a:ea typeface="Calibri"/>
                <a:cs typeface="Times New Roman"/>
              </a:rPr>
              <a:t>Egy egységes oldal a probléma megoldásra</a:t>
            </a:r>
            <a:endParaRPr lang="hu-HU" sz="1700" dirty="0">
              <a:solidFill>
                <a:schemeClr val="dk1"/>
              </a:solidFill>
              <a:latin typeface="Times New Roman"/>
              <a:ea typeface="Calibri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Ábra 18">
            <a:extLst>
              <a:ext uri="{FF2B5EF4-FFF2-40B4-BE49-F238E27FC236}">
                <a16:creationId xmlns:a16="http://schemas.microsoft.com/office/drawing/2014/main" id="{2424207F-CD7F-4DE1-90C3-4B964185C44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76" name="Google Shape;176;p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7" name="Google Shape;177;p9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800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Arial"/>
              </a:rPr>
              <a:t>Kommunikáció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Instagram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Arial"/>
              </a:rPr>
              <a:t>Megosztott munka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  <a:r>
              <a:rPr lang="hu-HU" sz="17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Github</a:t>
            </a:r>
            <a:endParaRPr lang="hu-HU" sz="1700" dirty="0" err="1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3" name="AutoShape 2" descr="Github Logo - Free social media icons">
            <a:extLst>
              <a:ext uri="{FF2B5EF4-FFF2-40B4-BE49-F238E27FC236}">
                <a16:creationId xmlns:a16="http://schemas.microsoft.com/office/drawing/2014/main" id="{68C5950A-838F-42FC-94E0-5B877D1E74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102" name="Picture 6" descr="Github logo - free Icon PNG, SVG">
            <a:extLst>
              <a:ext uri="{FF2B5EF4-FFF2-40B4-BE49-F238E27FC236}">
                <a16:creationId xmlns:a16="http://schemas.microsoft.com/office/drawing/2014/main" id="{3B63C3EF-C721-49AC-B027-3A2807265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6195" y="2278441"/>
            <a:ext cx="441647" cy="441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Kép 1" descr="File:Instagram logo 2022.svg - Wikimedia Commons">
            <a:extLst>
              <a:ext uri="{FF2B5EF4-FFF2-40B4-BE49-F238E27FC236}">
                <a16:creationId xmlns:a16="http://schemas.microsoft.com/office/drawing/2014/main" id="{BEA08648-175A-E925-8FD7-EECDBA4F5D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6195" y="1803729"/>
            <a:ext cx="352575" cy="361671"/>
          </a:xfrm>
          <a:prstGeom prst="rect">
            <a:avLst/>
          </a:prstGeom>
        </p:spPr>
      </p:pic>
      <p:pic>
        <p:nvPicPr>
          <p:cNvPr id="7" name="Kép 6" descr="A képen Emberi arc, ruházat, személy, nyakkendő látható&#10;&#10;Lehet, hogy az AI által létrehozott tartalom helytelen.">
            <a:extLst>
              <a:ext uri="{FF2B5EF4-FFF2-40B4-BE49-F238E27FC236}">
                <a16:creationId xmlns:a16="http://schemas.microsoft.com/office/drawing/2014/main" id="{FA08A92C-0B82-430C-BCC6-45097E3123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92387" y="3890683"/>
            <a:ext cx="1705075" cy="253253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Kép 7" descr="A képen Emberi arc, ruházat, személy, portré látható&#10;&#10;Lehet, hogy az AI által létrehozott tartalom helytelen.">
            <a:extLst>
              <a:ext uri="{FF2B5EF4-FFF2-40B4-BE49-F238E27FC236}">
                <a16:creationId xmlns:a16="http://schemas.microsoft.com/office/drawing/2014/main" id="{554E4A63-4BFF-432D-B92A-CE0ED1F1AB8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4539" y="3890683"/>
            <a:ext cx="1738693" cy="255494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51B7F9F0-A84E-4B64-86C6-C136A9044FA2}"/>
              </a:ext>
            </a:extLst>
          </p:cNvPr>
          <p:cNvSpPr txBox="1"/>
          <p:nvPr/>
        </p:nvSpPr>
        <p:spPr>
          <a:xfrm>
            <a:off x="592071" y="4014560"/>
            <a:ext cx="3511348" cy="8679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 pitchFamily="34" charset="0"/>
              <a:buChar char="•"/>
            </a:pPr>
            <a:r>
              <a:rPr lang="hu-HU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Frontend &amp; Dokumentumok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Mészáros Imre</a:t>
            </a:r>
            <a:endParaRPr lang="hu-HU" sz="1800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685BCA3C-D0CC-4697-8CA4-DA757253FDF2}"/>
              </a:ext>
            </a:extLst>
          </p:cNvPr>
          <p:cNvSpPr txBox="1"/>
          <p:nvPr/>
        </p:nvSpPr>
        <p:spPr>
          <a:xfrm>
            <a:off x="8256494" y="3974401"/>
            <a:ext cx="3097306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Backend &amp; API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</a:p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    </a:t>
            </a:r>
            <a:r>
              <a:rPr lang="hu-HU" sz="18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Gubek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-Szabó Tamás</a:t>
            </a:r>
          </a:p>
        </p:txBody>
      </p:sp>
      <p:sp>
        <p:nvSpPr>
          <p:cNvPr id="17" name="Téglalap 16">
            <a:extLst>
              <a:ext uri="{FF2B5EF4-FFF2-40B4-BE49-F238E27FC236}">
                <a16:creationId xmlns:a16="http://schemas.microsoft.com/office/drawing/2014/main" id="{A9354F7B-8B49-4AE0-AC52-15940795F551}"/>
              </a:ext>
            </a:extLst>
          </p:cNvPr>
          <p:cNvSpPr/>
          <p:nvPr/>
        </p:nvSpPr>
        <p:spPr>
          <a:xfrm>
            <a:off x="4103419" y="3890683"/>
            <a:ext cx="1694043" cy="2532530"/>
          </a:xfrm>
          <a:prstGeom prst="rect">
            <a:avLst/>
          </a:prstGeom>
          <a:solidFill>
            <a:srgbClr val="479FFF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 17">
            <a:extLst>
              <a:ext uri="{FF2B5EF4-FFF2-40B4-BE49-F238E27FC236}">
                <a16:creationId xmlns:a16="http://schemas.microsoft.com/office/drawing/2014/main" id="{4E8A85A5-E426-4C68-A4CA-029373DD2F9D}"/>
              </a:ext>
            </a:extLst>
          </p:cNvPr>
          <p:cNvSpPr/>
          <p:nvPr/>
        </p:nvSpPr>
        <p:spPr>
          <a:xfrm>
            <a:off x="6394539" y="3890682"/>
            <a:ext cx="1694043" cy="2532529"/>
          </a:xfrm>
          <a:prstGeom prst="rect">
            <a:avLst/>
          </a:prstGeom>
          <a:solidFill>
            <a:srgbClr val="93C6FF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1" name="Trapezoid 20">
            <a:extLst>
              <a:ext uri="{FF2B5EF4-FFF2-40B4-BE49-F238E27FC236}">
                <a16:creationId xmlns:a16="http://schemas.microsoft.com/office/drawing/2014/main" id="{DD6BA8C7-0672-4CD3-ABC6-1BB1F1E1D04F}"/>
              </a:ext>
            </a:extLst>
          </p:cNvPr>
          <p:cNvSpPr/>
          <p:nvPr/>
        </p:nvSpPr>
        <p:spPr>
          <a:xfrm rot="10800000">
            <a:off x="1315265" y="7212167"/>
            <a:ext cx="1610924" cy="855053"/>
          </a:xfrm>
          <a:prstGeom prst="trapezoid">
            <a:avLst/>
          </a:prstGeom>
          <a:solidFill>
            <a:srgbClr val="479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2" name="Trapezoid 21">
            <a:extLst>
              <a:ext uri="{FF2B5EF4-FFF2-40B4-BE49-F238E27FC236}">
                <a16:creationId xmlns:a16="http://schemas.microsoft.com/office/drawing/2014/main" id="{05C4641E-93CE-4E72-B242-06FA90CD5E85}"/>
              </a:ext>
            </a:extLst>
          </p:cNvPr>
          <p:cNvSpPr/>
          <p:nvPr/>
        </p:nvSpPr>
        <p:spPr>
          <a:xfrm>
            <a:off x="9144000" y="-964158"/>
            <a:ext cx="1610924" cy="855053"/>
          </a:xfrm>
          <a:prstGeom prst="trapezoid">
            <a:avLst/>
          </a:prstGeom>
          <a:solidFill>
            <a:srgbClr val="B4D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églalap 11">
            <a:extLst>
              <a:ext uri="{FF2B5EF4-FFF2-40B4-BE49-F238E27FC236}">
                <a16:creationId xmlns:a16="http://schemas.microsoft.com/office/drawing/2014/main" id="{2EE19E98-3725-40D6-A9D1-7F42CF17BFF2}"/>
              </a:ext>
            </a:extLst>
          </p:cNvPr>
          <p:cNvSpPr/>
          <p:nvPr/>
        </p:nvSpPr>
        <p:spPr>
          <a:xfrm>
            <a:off x="6794500" y="3093272"/>
            <a:ext cx="3960456" cy="2707640"/>
          </a:xfrm>
          <a:prstGeom prst="rect">
            <a:avLst/>
          </a:prstGeom>
          <a:solidFill>
            <a:srgbClr val="93C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pic>
        <p:nvPicPr>
          <p:cNvPr id="10" name="Ábra 9">
            <a:extLst>
              <a:ext uri="{FF2B5EF4-FFF2-40B4-BE49-F238E27FC236}">
                <a16:creationId xmlns:a16="http://schemas.microsoft.com/office/drawing/2014/main" id="{FC632D80-E514-4104-A464-76C80BF6544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11" name="Google Shape;111;p3"/>
          <p:cNvSpPr txBox="1">
            <a:spLocks noGrp="1"/>
          </p:cNvSpPr>
          <p:nvPr>
            <p:ph type="title"/>
          </p:nvPr>
        </p:nvSpPr>
        <p:spPr>
          <a:xfrm>
            <a:off x="561974" y="356522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  <a:buClr>
                <a:schemeClr val="dk1"/>
              </a:buClr>
              <a:buSzPts val="4400"/>
            </a:pPr>
            <a:r>
              <a:rPr lang="hu-HU" dirty="0">
                <a:latin typeface="Cambria"/>
                <a:ea typeface="Cambria"/>
              </a:rPr>
              <a:t>A program funkciói</a:t>
            </a:r>
            <a:endParaRPr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2B74B495-5BEF-20FE-44CA-E85D5BFB38F8}"/>
              </a:ext>
            </a:extLst>
          </p:cNvPr>
          <p:cNvSpPr/>
          <p:nvPr/>
        </p:nvSpPr>
        <p:spPr>
          <a:xfrm rot="10800000">
            <a:off x="1315265" y="5588931"/>
            <a:ext cx="1610924" cy="855053"/>
          </a:xfrm>
          <a:prstGeom prst="trapezoid">
            <a:avLst/>
          </a:prstGeom>
          <a:solidFill>
            <a:srgbClr val="479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Téglalap 10">
            <a:extLst>
              <a:ext uri="{FF2B5EF4-FFF2-40B4-BE49-F238E27FC236}">
                <a16:creationId xmlns:a16="http://schemas.microsoft.com/office/drawing/2014/main" id="{26CC7ABE-66C9-494A-ADA5-AFA6C6FEAA1C}"/>
              </a:ext>
            </a:extLst>
          </p:cNvPr>
          <p:cNvSpPr/>
          <p:nvPr/>
        </p:nvSpPr>
        <p:spPr>
          <a:xfrm>
            <a:off x="1315265" y="3093271"/>
            <a:ext cx="4082236" cy="2707641"/>
          </a:xfrm>
          <a:prstGeom prst="rect">
            <a:avLst/>
          </a:prstGeom>
          <a:solidFill>
            <a:srgbClr val="379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63260308-945B-4FF1-BBB7-B9157A2CBB32}"/>
              </a:ext>
            </a:extLst>
          </p:cNvPr>
          <p:cNvSpPr txBox="1"/>
          <p:nvPr/>
        </p:nvSpPr>
        <p:spPr>
          <a:xfrm>
            <a:off x="2569661" y="3868361"/>
            <a:ext cx="157344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  <a:ea typeface="Calibri"/>
                <a:cs typeface="Calibri"/>
              </a:rPr>
              <a:t>Regisztráció</a:t>
            </a:r>
          </a:p>
          <a:p>
            <a:pPr algn="ctr"/>
            <a:r>
              <a:rPr lang="hu-HU" dirty="0">
                <a:solidFill>
                  <a:schemeClr val="bg1"/>
                </a:solidFill>
                <a:ea typeface="Calibri"/>
                <a:cs typeface="Calibri"/>
              </a:rPr>
              <a:t>Bejelentkezés</a:t>
            </a:r>
          </a:p>
          <a:p>
            <a:pPr algn="ctr"/>
            <a:r>
              <a:rPr lang="hu-HU" dirty="0">
                <a:solidFill>
                  <a:schemeClr val="bg1"/>
                </a:solidFill>
                <a:ea typeface="Calibri"/>
                <a:cs typeface="Calibri"/>
              </a:rPr>
              <a:t>Étel naplózás</a:t>
            </a:r>
          </a:p>
          <a:p>
            <a:pPr algn="ctr"/>
            <a:r>
              <a:rPr lang="hu-HU" dirty="0">
                <a:solidFill>
                  <a:schemeClr val="bg1"/>
                </a:solidFill>
                <a:ea typeface="Calibri"/>
                <a:cs typeface="Calibri"/>
              </a:rPr>
              <a:t>Edzés naplózás</a:t>
            </a:r>
          </a:p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18EDEF80-B52F-4214-A044-5CC3C9FA4F9F}"/>
              </a:ext>
            </a:extLst>
          </p:cNvPr>
          <p:cNvSpPr txBox="1"/>
          <p:nvPr/>
        </p:nvSpPr>
        <p:spPr>
          <a:xfrm>
            <a:off x="6859716" y="3868361"/>
            <a:ext cx="383002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"CRUD" adattárolás</a:t>
            </a:r>
          </a:p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Moderátori felület</a:t>
            </a:r>
          </a:p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Naplózás, szerkesztés</a:t>
            </a:r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 err="1">
                <a:solidFill>
                  <a:srgbClr val="FFFFFF"/>
                </a:solidFill>
                <a:ea typeface="Calibri"/>
                <a:cs typeface="Calibri"/>
              </a:rPr>
              <a:t>Barcode</a:t>
            </a:r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 olvasás mobilos applikációban</a:t>
            </a:r>
            <a:endParaRPr lang="hu-HU" dirty="0"/>
          </a:p>
          <a:p>
            <a:pPr algn="ctr"/>
            <a:endParaRPr lang="hu-HU" dirty="0">
              <a:solidFill>
                <a:srgbClr val="FFFFFF"/>
              </a:solidFill>
              <a:ea typeface="Calibri"/>
              <a:cs typeface="Calibri"/>
            </a:endParaRPr>
          </a:p>
          <a:p>
            <a:endParaRPr lang="hu-HU" dirty="0"/>
          </a:p>
        </p:txBody>
      </p:sp>
      <p:sp>
        <p:nvSpPr>
          <p:cNvPr id="14" name="Trapezoid 13">
            <a:extLst>
              <a:ext uri="{FF2B5EF4-FFF2-40B4-BE49-F238E27FC236}">
                <a16:creationId xmlns:a16="http://schemas.microsoft.com/office/drawing/2014/main" id="{5CAA102E-E621-41A5-9808-FF3B0788152E}"/>
              </a:ext>
            </a:extLst>
          </p:cNvPr>
          <p:cNvSpPr/>
          <p:nvPr/>
        </p:nvSpPr>
        <p:spPr>
          <a:xfrm>
            <a:off x="9144032" y="2238218"/>
            <a:ext cx="1610924" cy="855053"/>
          </a:xfrm>
          <a:prstGeom prst="trapezoid">
            <a:avLst/>
          </a:prstGeom>
          <a:solidFill>
            <a:srgbClr val="B4D8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Kép 19" descr="next-auth - npm">
            <a:extLst>
              <a:ext uri="{FF2B5EF4-FFF2-40B4-BE49-F238E27FC236}">
                <a16:creationId xmlns:a16="http://schemas.microsoft.com/office/drawing/2014/main" id="{90821AFE-44E3-4436-A3D9-FA8274633A4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</a:blip>
          <a:stretch>
            <a:fillRect/>
          </a:stretch>
        </p:blipFill>
        <p:spPr>
          <a:xfrm>
            <a:off x="926270" y="4316141"/>
            <a:ext cx="1588994" cy="1762161"/>
          </a:xfrm>
          <a:prstGeom prst="rect">
            <a:avLst/>
          </a:prstGeom>
        </p:spPr>
      </p:pic>
      <p:pic>
        <p:nvPicPr>
          <p:cNvPr id="15" name="Ábra 14">
            <a:extLst>
              <a:ext uri="{FF2B5EF4-FFF2-40B4-BE49-F238E27FC236}">
                <a16:creationId xmlns:a16="http://schemas.microsoft.com/office/drawing/2014/main" id="{B075D840-D03A-4F91-98ED-BD8B430954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32" name="Google Shape;132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Rendszer felépítés 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Téglalap: lekerekített 1">
            <a:extLst>
              <a:ext uri="{FF2B5EF4-FFF2-40B4-BE49-F238E27FC236}">
                <a16:creationId xmlns:a16="http://schemas.microsoft.com/office/drawing/2014/main" id="{0041D6DE-0362-4246-BAE7-23F0454B8012}"/>
              </a:ext>
            </a:extLst>
          </p:cNvPr>
          <p:cNvSpPr/>
          <p:nvPr/>
        </p:nvSpPr>
        <p:spPr>
          <a:xfrm>
            <a:off x="8623534" y="3232347"/>
            <a:ext cx="2730266" cy="3072900"/>
          </a:xfrm>
          <a:prstGeom prst="roundRect">
            <a:avLst/>
          </a:prstGeom>
          <a:solidFill>
            <a:srgbClr val="B5D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200" b="1" i="1" dirty="0">
                <a:solidFill>
                  <a:schemeClr val="dk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Cambria"/>
              </a:rPr>
              <a:t>Adatbázis</a:t>
            </a:r>
          </a:p>
          <a:p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 </a:t>
            </a:r>
          </a:p>
          <a:p>
            <a:pPr algn="ctr"/>
            <a:r>
              <a:rPr lang="hu-HU" sz="18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PostrgeSQL</a:t>
            </a: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  <a:p>
            <a:pPr algn="ctr"/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ORM: </a:t>
            </a:r>
            <a:r>
              <a:rPr lang="hu-HU" sz="18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Prisma</a:t>
            </a:r>
            <a:endParaRPr lang="hu-HU" sz="1800" dirty="0">
              <a:solidFill>
                <a:schemeClr val="dk1"/>
              </a:solidFill>
              <a:latin typeface="Times New Roman"/>
              <a:ea typeface="Times New Roman"/>
              <a:cs typeface="Times New Roman"/>
            </a:endParaRPr>
          </a:p>
          <a:p>
            <a:pPr algn="ctr"/>
            <a:endParaRPr lang="hu-HU" b="1" dirty="0"/>
          </a:p>
        </p:txBody>
      </p:sp>
      <p:sp>
        <p:nvSpPr>
          <p:cNvPr id="13" name="Téglalap: lekerekített 12">
            <a:extLst>
              <a:ext uri="{FF2B5EF4-FFF2-40B4-BE49-F238E27FC236}">
                <a16:creationId xmlns:a16="http://schemas.microsoft.com/office/drawing/2014/main" id="{0938EA1E-6766-4881-9228-753FEEAB009D}"/>
              </a:ext>
            </a:extLst>
          </p:cNvPr>
          <p:cNvSpPr/>
          <p:nvPr/>
        </p:nvSpPr>
        <p:spPr>
          <a:xfrm>
            <a:off x="838200" y="3419975"/>
            <a:ext cx="2730266" cy="3072900"/>
          </a:xfrm>
          <a:prstGeom prst="roundRect">
            <a:avLst/>
          </a:prstGeom>
          <a:solidFill>
            <a:srgbClr val="B5D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b="1" i="1" dirty="0">
                <a:solidFill>
                  <a:schemeClr val="tx1"/>
                </a:solidFill>
                <a:latin typeface="Cambria"/>
                <a:ea typeface="Cambria"/>
              </a:rPr>
              <a:t>Futtatási környezet</a:t>
            </a:r>
          </a:p>
          <a:p>
            <a:pPr algn="ctr"/>
            <a:endParaRPr lang="hu-HU" sz="1400" b="1" dirty="0">
              <a:solidFill>
                <a:schemeClr val="dk1"/>
              </a:solidFill>
              <a:latin typeface="Cambria"/>
              <a:ea typeface="Cambria"/>
              <a:cs typeface="Calibri"/>
            </a:endParaRPr>
          </a:p>
          <a:p>
            <a:pPr algn="ctr"/>
            <a:r>
              <a:rPr lang="hu-HU" sz="1800" dirty="0" err="1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Hosting</a:t>
            </a:r>
            <a:r>
              <a:rPr lang="hu-HU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Vercel</a:t>
            </a:r>
            <a:endParaRPr lang="hu-HU" sz="1800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algn="ctr"/>
            <a:r>
              <a:rPr lang="hu-HU" sz="1800" dirty="0" err="1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Node.Js</a:t>
            </a:r>
            <a:endParaRPr lang="hu-HU" sz="1800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algn="ctr"/>
            <a:r>
              <a:rPr lang="hu-HU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Böngésző(Chrome, Firefox)</a:t>
            </a:r>
          </a:p>
          <a:p>
            <a:pPr algn="ctr"/>
            <a:r>
              <a:rPr lang="hu-HU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Android(</a:t>
            </a:r>
            <a:r>
              <a:rPr lang="hu-HU" sz="1800" dirty="0" err="1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Capacitor</a:t>
            </a:r>
            <a:r>
              <a:rPr lang="hu-HU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)</a:t>
            </a:r>
            <a:endParaRPr lang="hu-H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églalap: lekerekített 13">
            <a:extLst>
              <a:ext uri="{FF2B5EF4-FFF2-40B4-BE49-F238E27FC236}">
                <a16:creationId xmlns:a16="http://schemas.microsoft.com/office/drawing/2014/main" id="{12988EA7-B0AF-4E33-BFFF-C1AADAAC3589}"/>
              </a:ext>
            </a:extLst>
          </p:cNvPr>
          <p:cNvSpPr/>
          <p:nvPr/>
        </p:nvSpPr>
        <p:spPr>
          <a:xfrm>
            <a:off x="4730867" y="2648147"/>
            <a:ext cx="2730266" cy="3072900"/>
          </a:xfrm>
          <a:prstGeom prst="roundRect">
            <a:avLst/>
          </a:prstGeom>
          <a:solidFill>
            <a:srgbClr val="479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200" b="1" i="1" dirty="0">
                <a:solidFill>
                  <a:schemeClr val="dk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Cambria"/>
              </a:rPr>
              <a:t>Framework</a:t>
            </a:r>
          </a:p>
          <a:p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 </a:t>
            </a:r>
          </a:p>
          <a:p>
            <a:pPr algn="ctr"/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Next.js</a:t>
            </a:r>
          </a:p>
          <a:p>
            <a:pPr algn="ctr"/>
            <a:endParaRPr lang="hu-HU" b="1" dirty="0"/>
          </a:p>
        </p:txBody>
      </p:sp>
      <p:sp>
        <p:nvSpPr>
          <p:cNvPr id="16" name="Téglalap 15">
            <a:extLst>
              <a:ext uri="{FF2B5EF4-FFF2-40B4-BE49-F238E27FC236}">
                <a16:creationId xmlns:a16="http://schemas.microsoft.com/office/drawing/2014/main" id="{B6E34DEF-7F1F-4510-BDD9-F662D6C5B253}"/>
              </a:ext>
            </a:extLst>
          </p:cNvPr>
          <p:cNvSpPr/>
          <p:nvPr/>
        </p:nvSpPr>
        <p:spPr>
          <a:xfrm>
            <a:off x="1079500" y="3734601"/>
            <a:ext cx="2285999" cy="2570646"/>
          </a:xfrm>
          <a:prstGeom prst="rect">
            <a:avLst/>
          </a:prstGeom>
          <a:solidFill>
            <a:srgbClr val="3796FF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7" name="Téglalap 16">
            <a:extLst>
              <a:ext uri="{FF2B5EF4-FFF2-40B4-BE49-F238E27FC236}">
                <a16:creationId xmlns:a16="http://schemas.microsoft.com/office/drawing/2014/main" id="{D931D518-8A9E-4CBC-8826-1AAEF352B715}"/>
              </a:ext>
            </a:extLst>
          </p:cNvPr>
          <p:cNvSpPr/>
          <p:nvPr/>
        </p:nvSpPr>
        <p:spPr>
          <a:xfrm>
            <a:off x="8902700" y="3445375"/>
            <a:ext cx="2209800" cy="2707640"/>
          </a:xfrm>
          <a:prstGeom prst="rect">
            <a:avLst/>
          </a:prstGeom>
          <a:solidFill>
            <a:srgbClr val="93C6FF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18" name="Trapezoid 17">
            <a:extLst>
              <a:ext uri="{FF2B5EF4-FFF2-40B4-BE49-F238E27FC236}">
                <a16:creationId xmlns:a16="http://schemas.microsoft.com/office/drawing/2014/main" id="{73F07186-21D8-4253-BCC1-4B42692FA8A8}"/>
              </a:ext>
            </a:extLst>
          </p:cNvPr>
          <p:cNvSpPr/>
          <p:nvPr/>
        </p:nvSpPr>
        <p:spPr>
          <a:xfrm rot="10800000">
            <a:off x="4991100" y="4165600"/>
            <a:ext cx="2153203" cy="1414645"/>
          </a:xfrm>
          <a:prstGeom prst="trapezoid">
            <a:avLst/>
          </a:prstGeom>
          <a:solidFill>
            <a:srgbClr val="479FFF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rapezoid 18">
            <a:extLst>
              <a:ext uri="{FF2B5EF4-FFF2-40B4-BE49-F238E27FC236}">
                <a16:creationId xmlns:a16="http://schemas.microsoft.com/office/drawing/2014/main" id="{1B1810D0-2FEB-41A4-BC21-DBE3A841C576}"/>
              </a:ext>
            </a:extLst>
          </p:cNvPr>
          <p:cNvSpPr/>
          <p:nvPr/>
        </p:nvSpPr>
        <p:spPr>
          <a:xfrm>
            <a:off x="4789554" y="2738052"/>
            <a:ext cx="2556294" cy="1414646"/>
          </a:xfrm>
          <a:prstGeom prst="trapezoid">
            <a:avLst/>
          </a:prstGeom>
          <a:solidFill>
            <a:srgbClr val="B4D8FF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Ábra 6">
            <a:extLst>
              <a:ext uri="{FF2B5EF4-FFF2-40B4-BE49-F238E27FC236}">
                <a16:creationId xmlns:a16="http://schemas.microsoft.com/office/drawing/2014/main" id="{27ED6BA0-FE9B-40A0-A008-6546034A326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340000">
            <a:off x="7495020" y="2856378"/>
            <a:ext cx="2085109" cy="2142565"/>
          </a:xfrm>
          <a:prstGeom prst="rect">
            <a:avLst/>
          </a:prstGeom>
        </p:spPr>
      </p:pic>
      <p:pic>
        <p:nvPicPr>
          <p:cNvPr id="6" name="Ábra 5">
            <a:extLst>
              <a:ext uri="{FF2B5EF4-FFF2-40B4-BE49-F238E27FC236}">
                <a16:creationId xmlns:a16="http://schemas.microsoft.com/office/drawing/2014/main" id="{8B94AC43-5D56-46C2-8991-13D9C768883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52" name="Google Shape;152;p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Backend &amp; API Fejlesztés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3" name="Google Shape;153;p5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621306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numCol="1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latin typeface="Cambria" panose="02040503050406030204" pitchFamily="18" charset="0"/>
                <a:ea typeface="Cambria" panose="02040503050406030204" pitchFamily="18" charset="0"/>
              </a:rPr>
              <a:t>Architektúra</a:t>
            </a:r>
            <a:r>
              <a:rPr lang="hu-HU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Serverless</a:t>
            </a:r>
            <a: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(Frontend és Backend egyben fut)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dirty="0"/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latin typeface="Cambria"/>
                <a:ea typeface="Cambria"/>
              </a:rPr>
              <a:t>Biztonság</a:t>
            </a:r>
            <a:r>
              <a:rPr lang="hu-HU" sz="1700" b="1" dirty="0"/>
              <a:t>:</a:t>
            </a:r>
            <a:r>
              <a:rPr lang="hu-HU" sz="1200" dirty="0"/>
              <a:t> </a:t>
            </a:r>
            <a:r>
              <a:rPr lang="hu-HU" sz="1700" dirty="0" err="1">
                <a:latin typeface="Times New Roman"/>
                <a:cs typeface="Times New Roman"/>
              </a:rPr>
              <a:t>Bcrypt</a:t>
            </a:r>
            <a:r>
              <a:rPr lang="hu-HU" sz="1700" dirty="0">
                <a:latin typeface="Times New Roman"/>
                <a:cs typeface="Times New Roman"/>
              </a:rPr>
              <a:t> jelszó titkosítás (</a:t>
            </a:r>
            <a:r>
              <a:rPr lang="hu-HU" sz="1700" dirty="0" err="1">
                <a:latin typeface="Times New Roman"/>
                <a:cs typeface="Times New Roman"/>
              </a:rPr>
              <a:t>hashing</a:t>
            </a:r>
            <a:r>
              <a:rPr lang="hu-HU" sz="1700" dirty="0">
                <a:latin typeface="Times New Roman"/>
                <a:cs typeface="Times New Roman"/>
              </a:rPr>
              <a:t>), </a:t>
            </a:r>
            <a:r>
              <a:rPr lang="hu-HU" sz="1700" dirty="0" err="1">
                <a:latin typeface="Times New Roman"/>
                <a:cs typeface="Times New Roman"/>
              </a:rPr>
              <a:t>NextAuth</a:t>
            </a:r>
            <a:r>
              <a:rPr lang="hu-HU" sz="1700" dirty="0">
                <a:latin typeface="Times New Roman"/>
                <a:cs typeface="Times New Roman"/>
              </a:rPr>
              <a:t> </a:t>
            </a:r>
            <a:r>
              <a:rPr lang="hu-HU" sz="1700" dirty="0" err="1">
                <a:latin typeface="Times New Roman"/>
                <a:cs typeface="Times New Roman"/>
              </a:rPr>
              <a:t>autentitikáció</a:t>
            </a:r>
            <a:r>
              <a:rPr lang="hu-HU" sz="1700" dirty="0">
                <a:latin typeface="Times New Roman"/>
                <a:cs typeface="Times New Roman"/>
              </a:rPr>
              <a:t> a szerveroldalon.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lang="hu-HU" sz="18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endParaRPr lang="hu-HU" sz="1800" b="0" i="0" u="none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B9F0288-B01B-EA3F-4A38-7020284748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8460" y="2021727"/>
            <a:ext cx="1846337" cy="4471148"/>
          </a:xfrm>
          <a:prstGeom prst="rect">
            <a:avLst/>
          </a:prstGeom>
          <a:ln w="38100">
            <a:solidFill>
              <a:srgbClr val="479FFF"/>
            </a:solidFill>
          </a:ln>
        </p:spPr>
      </p:pic>
      <p:pic>
        <p:nvPicPr>
          <p:cNvPr id="3" name="Kép 2" descr="next-auth - npm">
            <a:extLst>
              <a:ext uri="{FF2B5EF4-FFF2-40B4-BE49-F238E27FC236}">
                <a16:creationId xmlns:a16="http://schemas.microsoft.com/office/drawing/2014/main" id="{A58A0CD3-C597-F287-75BF-4A764CF8BD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5930" y="3046581"/>
            <a:ext cx="1588994" cy="17621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 descr="A képen szöveg, képernyőkép, szoftver, Párhuzamos látható&#10;&#10;Lehet, hogy az AI által létrehozott tartalom helytelen.">
            <a:extLst>
              <a:ext uri="{FF2B5EF4-FFF2-40B4-BE49-F238E27FC236}">
                <a16:creationId xmlns:a16="http://schemas.microsoft.com/office/drawing/2014/main" id="{F45CFF41-FFF7-4D0B-8590-EB1F0C69402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</a:blip>
          <a:stretch>
            <a:fillRect/>
          </a:stretch>
        </p:blipFill>
        <p:spPr>
          <a:xfrm>
            <a:off x="7853438" y="3355136"/>
            <a:ext cx="1505359" cy="1075765"/>
          </a:xfrm>
          <a:prstGeom prst="rect">
            <a:avLst/>
          </a:prstGeom>
        </p:spPr>
      </p:pic>
      <p:pic>
        <p:nvPicPr>
          <p:cNvPr id="6" name="Ábra 5">
            <a:extLst>
              <a:ext uri="{FF2B5EF4-FFF2-40B4-BE49-F238E27FC236}">
                <a16:creationId xmlns:a16="http://schemas.microsoft.com/office/drawing/2014/main" id="{73ECFB91-7812-4A18-90E2-BA536B7B097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58" name="Google Shape;158;p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Adatbázis</a:t>
            </a: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 &amp; Relációs modell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9" name="Google Shape;159;p6"/>
          <p:cNvSpPr txBox="1">
            <a:spLocks noGrp="1"/>
          </p:cNvSpPr>
          <p:nvPr>
            <p:ph idx="1"/>
          </p:nvPr>
        </p:nvSpPr>
        <p:spPr>
          <a:xfrm>
            <a:off x="691669" y="1825625"/>
            <a:ext cx="4693024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Rendszer: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PostgreSQL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Relációs Adatbázis.</a:t>
            </a:r>
            <a:endParaRPr lang="hu-HU" sz="1800" dirty="0">
              <a:solidFill>
                <a:srgbClr val="000000"/>
              </a:solidFill>
              <a:latin typeface="Times New Roman"/>
              <a:ea typeface="Arial"/>
              <a:cs typeface="Times New Roman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Integritás:</a:t>
            </a:r>
            <a:r>
              <a:rPr lang="hu-HU" sz="18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Szigorú entitáskapcsolatok (Felhasználók ↔ Edzések és ételek).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Migrációk: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Verziókezelt séma-menedzsment.</a:t>
            </a:r>
          </a:p>
        </p:txBody>
      </p:sp>
      <p:pic>
        <p:nvPicPr>
          <p:cNvPr id="3" name="Ábra 2">
            <a:extLst>
              <a:ext uri="{FF2B5EF4-FFF2-40B4-BE49-F238E27FC236}">
                <a16:creationId xmlns:a16="http://schemas.microsoft.com/office/drawing/2014/main" id="{31D62461-E30B-C42F-76B3-DE0B3A637E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-1260000">
            <a:off x="1153798" y="4195483"/>
            <a:ext cx="2085109" cy="2142565"/>
          </a:xfrm>
          <a:prstGeom prst="rect">
            <a:avLst/>
          </a:prstGeom>
        </p:spPr>
      </p:pic>
      <p:pic>
        <p:nvPicPr>
          <p:cNvPr id="5" name="Kép 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6BEBF937-ED5D-4528-F0B7-7B563CF2C0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8522" y="2069447"/>
            <a:ext cx="5015193" cy="3660402"/>
          </a:xfrm>
          <a:prstGeom prst="rect">
            <a:avLst/>
          </a:prstGeom>
          <a:noFill/>
          <a:ln w="38100">
            <a:solidFill>
              <a:srgbClr val="479FFF"/>
            </a:solidFill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>
            <a:extLst>
              <a:ext uri="{FF2B5EF4-FFF2-40B4-BE49-F238E27FC236}">
                <a16:creationId xmlns:a16="http://schemas.microsoft.com/office/drawing/2014/main" id="{5281C32E-F83F-42AB-B5E6-2314829D3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2504" y="1343947"/>
            <a:ext cx="1079348" cy="1065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Ábra 4">
            <a:extLst>
              <a:ext uri="{FF2B5EF4-FFF2-40B4-BE49-F238E27FC236}">
                <a16:creationId xmlns:a16="http://schemas.microsoft.com/office/drawing/2014/main" id="{54C7724D-9E7E-4A1E-A936-B2C747D3217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7943E9D-25E3-4D16-A937-0891A2C90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8422341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Cambria"/>
                <a:ea typeface="Cambria"/>
              </a:rPr>
              <a:t>Adatbázis struktúra</a:t>
            </a:r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103B5E87-E4BB-4858-8BB8-E9198B69613B}"/>
              </a:ext>
            </a:extLst>
          </p:cNvPr>
          <p:cNvSpPr txBox="1"/>
          <p:nvPr/>
        </p:nvSpPr>
        <p:spPr>
          <a:xfrm>
            <a:off x="838200" y="2062226"/>
            <a:ext cx="4083423" cy="16619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sz="1700" b="1" dirty="0">
                <a:latin typeface="Cambria"/>
                <a:ea typeface="Cambria"/>
                <a:cs typeface="Times New Roman"/>
              </a:rPr>
              <a:t>Relációs séma:</a:t>
            </a:r>
            <a:r>
              <a:rPr lang="hu-HU" sz="1700" dirty="0">
                <a:latin typeface="Cambria"/>
                <a:ea typeface="Cambria"/>
                <a:cs typeface="Times New Roman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12 normalizált táblából álló komplex rendszer.</a:t>
            </a:r>
            <a:b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1700" b="1" dirty="0">
                <a:latin typeface="Cambria"/>
                <a:ea typeface="Cambria"/>
                <a:cs typeface="Times New Roman"/>
              </a:rPr>
              <a:t>Adatintegritás:</a:t>
            </a:r>
            <a:r>
              <a:rPr lang="hu-HU" sz="1700" dirty="0">
                <a:latin typeface="Times New Roman"/>
                <a:cs typeface="Times New Roman"/>
              </a:rPr>
              <a:t> Elsődleges és idegen kulcsok (</a:t>
            </a:r>
            <a:r>
              <a:rPr lang="hu-HU" sz="1700" dirty="0" err="1">
                <a:latin typeface="Times New Roman"/>
                <a:cs typeface="Times New Roman"/>
              </a:rPr>
              <a:t>Primary</a:t>
            </a:r>
            <a:r>
              <a:rPr lang="hu-HU" sz="1700" dirty="0">
                <a:latin typeface="Times New Roman"/>
                <a:cs typeface="Times New Roman"/>
              </a:rPr>
              <a:t> &amp; </a:t>
            </a:r>
            <a:r>
              <a:rPr lang="hu-HU" sz="1700" dirty="0" err="1">
                <a:latin typeface="Times New Roman"/>
                <a:cs typeface="Times New Roman"/>
              </a:rPr>
              <a:t>Foreign</a:t>
            </a:r>
            <a:r>
              <a:rPr lang="hu-HU" sz="1700" dirty="0">
                <a:latin typeface="Times New Roman"/>
                <a:cs typeface="Times New Roman"/>
              </a:rPr>
              <a:t> </a:t>
            </a:r>
            <a:r>
              <a:rPr lang="hu-HU" sz="1700" dirty="0" err="1">
                <a:latin typeface="Times New Roman"/>
                <a:cs typeface="Times New Roman"/>
              </a:rPr>
              <a:t>keys</a:t>
            </a:r>
            <a:r>
              <a:rPr lang="hu-HU" sz="1700" dirty="0">
                <a:latin typeface="Times New Roman"/>
                <a:cs typeface="Times New Roman"/>
              </a:rPr>
              <a:t>) szigorú használata.</a:t>
            </a:r>
          </a:p>
        </p:txBody>
      </p:sp>
      <p:pic>
        <p:nvPicPr>
          <p:cNvPr id="3" name="Kép 2" descr="A képen szöveg, képernyőkép, szoftver, Párhuzamos látható&#10;&#10;Lehet, hogy az AI által létrehozott tartalom helytelen.">
            <a:extLst>
              <a:ext uri="{FF2B5EF4-FFF2-40B4-BE49-F238E27FC236}">
                <a16:creationId xmlns:a16="http://schemas.microsoft.com/office/drawing/2014/main" id="{562CD7A0-0F6A-2B25-E484-80EFA8F43D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0954" y="1434353"/>
            <a:ext cx="6695711" cy="478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5845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4">
            <a:extLst>
              <a:ext uri="{FF2B5EF4-FFF2-40B4-BE49-F238E27FC236}">
                <a16:creationId xmlns:a16="http://schemas.microsoft.com/office/drawing/2014/main" id="{3C609842-46ED-49ED-9827-3DE21B9702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8854" y="2691478"/>
            <a:ext cx="1814793" cy="1814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Jest Logo PNG Transparent &amp; SVG Vector - Freebie Supply">
            <a:extLst>
              <a:ext uri="{FF2B5EF4-FFF2-40B4-BE49-F238E27FC236}">
                <a16:creationId xmlns:a16="http://schemas.microsoft.com/office/drawing/2014/main" id="{A3339BCB-EC1B-4DE6-ADDE-246F9CCDB6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9675" y="3429000"/>
            <a:ext cx="2112497" cy="1584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Ábra 5">
            <a:extLst>
              <a:ext uri="{FF2B5EF4-FFF2-40B4-BE49-F238E27FC236}">
                <a16:creationId xmlns:a16="http://schemas.microsoft.com/office/drawing/2014/main" id="{CE4068B4-0B37-4F2C-9C84-01211241ADC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64" name="Google Shape;164;p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Frontend: </a:t>
            </a: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Felhasználói felület és élmény (UI &amp; UX)</a:t>
            </a:r>
            <a:endParaRPr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sp>
        <p:nvSpPr>
          <p:cNvPr id="165" name="Google Shape;165;p7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18147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Könyvtár:</a:t>
            </a:r>
            <a:r>
              <a:rPr lang="hu-HU" sz="18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b="0" i="0" u="none" strike="noStrike" dirty="0" err="1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Tailwind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CSS.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Ikonok: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HeroIcons</a:t>
            </a:r>
            <a:r>
              <a:rPr lang="hu-HU" sz="18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 </a:t>
            </a:r>
            <a:r>
              <a:rPr lang="hu-HU" sz="1800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a konzisztens megjelenéséért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800" b="1" dirty="0" err="1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/>
                <a:sym typeface="Arial"/>
              </a:rPr>
              <a:t>Reszponzivitás</a:t>
            </a:r>
            <a:r>
              <a:rPr lang="hu-HU" sz="18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/>
                <a:sym typeface="Arial"/>
              </a:rPr>
              <a:t>: 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Mo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dernizált felhasználói felület, különböző képernyő méretekre.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Nyelv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: </a:t>
            </a:r>
            <a:r>
              <a:rPr lang="hu-HU" sz="18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Typescript</a:t>
            </a:r>
            <a:endParaRPr lang="hu-HU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2" name="Kép 1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401289C8-B594-CFD0-84BE-BBA3D9DCCB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7301" y="2285720"/>
            <a:ext cx="6057340" cy="2645149"/>
          </a:xfrm>
          <a:prstGeom prst="rect">
            <a:avLst/>
          </a:prstGeom>
          <a:ln w="38100">
            <a:solidFill>
              <a:srgbClr val="479FFF"/>
            </a:solidFill>
          </a:ln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C7DACE5-42A8-41D1-A7C4-58EE7D5A4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5848" y="4506271"/>
            <a:ext cx="2158695" cy="213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Ábra 5">
            <a:extLst>
              <a:ext uri="{FF2B5EF4-FFF2-40B4-BE49-F238E27FC236}">
                <a16:creationId xmlns:a16="http://schemas.microsoft.com/office/drawing/2014/main" id="{50F6E4D0-A2B2-4105-8BF1-C12B12ED690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282" y="3734601"/>
            <a:ext cx="3580045" cy="3691289"/>
          </a:xfrm>
          <a:prstGeom prst="rect">
            <a:avLst/>
          </a:prstGeom>
        </p:spPr>
      </p:pic>
      <p:sp>
        <p:nvSpPr>
          <p:cNvPr id="170" name="Google Shape;170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Minőségbiztosítás (Tesztelési stratégia</a:t>
            </a: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)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1" name="Google Shape;171;p8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8482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Backend Tesztelés: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 </a:t>
            </a:r>
            <a:r>
              <a:rPr lang="hu-HU" sz="1700" dirty="0" err="1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Jest</a:t>
            </a:r>
            <a:endParaRPr lang="hu-HU" sz="1700" dirty="0">
              <a:latin typeface="Cambria"/>
              <a:ea typeface="Cambria"/>
              <a:cs typeface="Times New Roman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Cambria"/>
              <a:ea typeface="Cambria"/>
              <a:cs typeface="Times New Roman"/>
              <a:sym typeface="Arial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Frontend Tesztelés: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 </a:t>
            </a:r>
            <a:r>
              <a:rPr lang="hu-HU" sz="17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RobotFramework</a:t>
            </a:r>
            <a:endParaRPr lang="hu-HU" sz="1700" b="0" i="0" u="none" strike="noStrike" dirty="0">
              <a:solidFill>
                <a:srgbClr val="000000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Cél</a:t>
            </a:r>
            <a:r>
              <a:rPr lang="hu-HU" sz="1700" b="1" i="0" u="none" strike="noStrike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 </a:t>
            </a:r>
            <a:r>
              <a:rPr lang="hu-HU" sz="1700" b="0" i="0" u="none" strike="noStrike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Ellenőrzött adatforgalom és hibamentes kritikus útvonalak.</a:t>
            </a: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Kép 1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25EFA4D6-020C-2244-9FEB-852C45CDFB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264" y="1546972"/>
            <a:ext cx="4438091" cy="2744321"/>
          </a:xfrm>
          <a:prstGeom prst="rect">
            <a:avLst/>
          </a:prstGeom>
          <a:ln w="38100">
            <a:solidFill>
              <a:srgbClr val="479FFF"/>
            </a:solidFill>
          </a:ln>
        </p:spPr>
      </p:pic>
      <p:pic>
        <p:nvPicPr>
          <p:cNvPr id="3" name="Kép 2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64272094-1702-8443-BCC2-444B4A28DA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4776" y="3759853"/>
            <a:ext cx="4977653" cy="2868146"/>
          </a:xfrm>
          <a:prstGeom prst="rect">
            <a:avLst/>
          </a:prstGeom>
          <a:ln w="38100">
            <a:solidFill>
              <a:srgbClr val="479FFF"/>
            </a:solidFill>
          </a:ln>
        </p:spPr>
      </p:pic>
      <p:pic>
        <p:nvPicPr>
          <p:cNvPr id="1026" name="Picture 2" descr="Jest Logo PNG Transparent &amp; SVG Vector - Freebie Supply">
            <a:extLst>
              <a:ext uri="{FF2B5EF4-FFF2-40B4-BE49-F238E27FC236}">
                <a16:creationId xmlns:a16="http://schemas.microsoft.com/office/drawing/2014/main" id="{E5689836-6CED-453B-AAEE-522CC5161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0702" y="5217053"/>
            <a:ext cx="2112497" cy="1584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E895D8D-18D3-4A01-85EF-53394A8C1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958" y="3765452"/>
            <a:ext cx="1814793" cy="1814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Ábra 3">
            <a:extLst>
              <a:ext uri="{FF2B5EF4-FFF2-40B4-BE49-F238E27FC236}">
                <a16:creationId xmlns:a16="http://schemas.microsoft.com/office/drawing/2014/main" id="{C831D527-A21E-47C5-87E1-36E51285508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8600" y="1219200"/>
            <a:ext cx="4286407" cy="44196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69B1655-DFB8-49C4-893B-E7BB44F34C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B9A9ECB-30B0-4388-BB0F-C481F339C9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11288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275</Words>
  <Application>Microsoft Office PowerPoint</Application>
  <PresentationFormat>Szélesvásznú</PresentationFormat>
  <Paragraphs>61</Paragraphs>
  <Slides>11</Slides>
  <Notes>9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Cambria</vt:lpstr>
      <vt:lpstr>Times New Roman</vt:lpstr>
      <vt:lpstr>Office-téma</vt:lpstr>
      <vt:lpstr>PowerPoint-bemutató</vt:lpstr>
      <vt:lpstr>Bevezetés: Probléma és Megoldás</vt:lpstr>
      <vt:lpstr>Csapatmunka</vt:lpstr>
      <vt:lpstr>A program funkciói</vt:lpstr>
      <vt:lpstr>Rendszer felépítés </vt:lpstr>
      <vt:lpstr>Backend &amp; API Fejlesztés</vt:lpstr>
      <vt:lpstr>Adatbázis &amp; Relációs modell</vt:lpstr>
      <vt:lpstr>Adatbázis struktúra</vt:lpstr>
      <vt:lpstr>Frontend: Felhasználói felület és élmény (UI &amp; UX)</vt:lpstr>
      <vt:lpstr>Minőségbiztosítás (Tesztelési stratégia)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Studify</dc:title>
  <dc:creator>Vadkerti-Tóth Ádám</dc:creator>
  <cp:lastModifiedBy>Mészáros Imre</cp:lastModifiedBy>
  <cp:revision>256</cp:revision>
  <dcterms:created xsi:type="dcterms:W3CDTF">2026-02-27T12:20:27Z</dcterms:created>
  <dcterms:modified xsi:type="dcterms:W3CDTF">2026-04-17T06:28:56Z</dcterms:modified>
</cp:coreProperties>
</file>