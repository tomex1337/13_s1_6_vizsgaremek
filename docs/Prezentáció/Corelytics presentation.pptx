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0" r:id="rId1"/>
  </p:sldMasterIdLst>
  <p:notesMasterIdLst>
    <p:notesMasterId r:id="rId14"/>
  </p:notesMasterIdLst>
  <p:sldIdLst>
    <p:sldId id="256" r:id="rId2"/>
    <p:sldId id="257" r:id="rId3"/>
    <p:sldId id="264" r:id="rId4"/>
    <p:sldId id="258" r:id="rId5"/>
    <p:sldId id="259" r:id="rId6"/>
    <p:sldId id="260" r:id="rId7"/>
    <p:sldId id="261" r:id="rId8"/>
    <p:sldId id="267" r:id="rId9"/>
    <p:sldId id="262" r:id="rId10"/>
    <p:sldId id="263" r:id="rId11"/>
    <p:sldId id="265" r:id="rId12"/>
    <p:sldId id="268" r:id="rId13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jjDdjNFoi+xjUiqIqv79dYRrq6D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79FFF"/>
    <a:srgbClr val="3796FF"/>
    <a:srgbClr val="B5D9FF"/>
    <a:srgbClr val="B4D8FF"/>
    <a:srgbClr val="93C6FF"/>
    <a:srgbClr val="88CFE8"/>
    <a:srgbClr val="2497C0"/>
    <a:srgbClr val="2F5E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9915D60-2A3D-43AC-8374-F7FA46C654D1}" v="897" dt="2026-03-05T18:27:12.4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60" autoAdjust="0"/>
  </p:normalViewPr>
  <p:slideViewPr>
    <p:cSldViewPr snapToGrid="0">
      <p:cViewPr>
        <p:scale>
          <a:sx n="75" d="100"/>
          <a:sy n="75" d="100"/>
        </p:scale>
        <p:origin x="1038" y="6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customschemas.google.com/relationships/presentationmetadata" Target="metadata"/><Relationship Id="rId2" Type="http://schemas.openxmlformats.org/officeDocument/2006/relationships/slide" Target="slides/slide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2FFD633-CC68-4114-96C3-00B29DE1F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7CD84C5F-6AFD-40B6-B0B2-1EF05049D6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D6F22F5-036D-4DC4-99EC-914A603CA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557E485-67FA-4377-8693-DBD8C392F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6DC82B3-8CB9-49C8-A55C-3D3A1346E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706430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3105664-6A55-42E3-9880-E790885E5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7D9E1C6-B8B6-4E81-B31E-3A93181A0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C27E3A6-3A8B-4DA5-BED7-5E1EBECE7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688A4338-3ADC-438B-A5C2-43C2C8EC22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B78FA53-65A4-46A4-BD02-A6108EC7B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  <p:sp>
        <p:nvSpPr>
          <p:cNvPr id="10" name="Téglalap 9">
            <a:extLst>
              <a:ext uri="{FF2B5EF4-FFF2-40B4-BE49-F238E27FC236}">
                <a16:creationId xmlns:a16="http://schemas.microsoft.com/office/drawing/2014/main" id="{11E80D90-5456-4FC9-9A94-4D6EB0CDABD7}"/>
              </a:ext>
            </a:extLst>
          </p:cNvPr>
          <p:cNvSpPr/>
          <p:nvPr userDrawn="1"/>
        </p:nvSpPr>
        <p:spPr>
          <a:xfrm rot="2301359">
            <a:off x="9156113" y="-550108"/>
            <a:ext cx="4311205" cy="2115149"/>
          </a:xfrm>
          <a:prstGeom prst="rect">
            <a:avLst/>
          </a:prstGeom>
          <a:solidFill>
            <a:srgbClr val="B5D9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1" name="Téglalap 10">
            <a:extLst>
              <a:ext uri="{FF2B5EF4-FFF2-40B4-BE49-F238E27FC236}">
                <a16:creationId xmlns:a16="http://schemas.microsoft.com/office/drawing/2014/main" id="{E80C4DBF-3208-4837-A0FD-FE5FCB28E5DE}"/>
              </a:ext>
            </a:extLst>
          </p:cNvPr>
          <p:cNvSpPr/>
          <p:nvPr userDrawn="1"/>
        </p:nvSpPr>
        <p:spPr>
          <a:xfrm rot="2301359">
            <a:off x="-649443" y="6214605"/>
            <a:ext cx="2066250" cy="1013737"/>
          </a:xfrm>
          <a:prstGeom prst="rect">
            <a:avLst/>
          </a:prstGeom>
          <a:solidFill>
            <a:srgbClr val="479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2333441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CFCC0F1-75AD-4A70-AF96-59A648568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DA8C35C-82E9-4512-BAAA-9AF7AE5CF8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8A4F817-4FFE-46A8-B71A-057D00289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B35825E-A5DA-4B9E-AA19-671323D47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7923B71-473F-416C-B4AA-8B44609B5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816377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1ACA8CE-048E-44D4-8E80-33AB60A6A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9066C06-8F01-49CF-A9E6-9628733873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61FB9950-A47D-4086-A756-605CD0684B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8655FEFC-96CA-47B9-9B3B-DB1E12CF2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F83E868C-DB03-4A7B-B1E9-F408BC8D0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F63EB8D-CDE7-434A-86D4-C4917BDD3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7682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DE9ADBE-CCE1-41D3-85FD-EC971D2B7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C4947FD-0FFE-4ED9-A73D-A0CD454BA3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3C99556-B102-4A4D-B230-17126DAA0D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144CB5EE-7F2D-439A-AE30-D9E1469B4B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66425D20-434A-4083-A7FB-7D2A438A7B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9C35E17B-5254-40A7-8B56-95689B33E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54D3A4F3-5D2D-4784-8AF4-EB1E1C1C3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FC0AA073-8AAD-4F10-A671-B0E90B6AF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083570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1E8BCC7-ECE5-4C26-9E0D-846DE5577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C7093C0E-5961-4B87-8BE6-E909F99B8B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37960C5B-8923-4D1A-9013-9AB7AC859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CA18BCB-03FD-42D6-9B8E-B904AEF3A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672195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9B212F7B-91F9-4AE0-A40A-13757E9B1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B56DFB8D-8F6D-4E22-9860-112ECAC3C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7391D877-3404-4F91-B52F-E6576FA0B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197780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75FEEA9-02C7-48BB-821C-623CBD02E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B0A706A-ECF8-4A0B-A972-7FFFFB813D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A271BDC0-4DC9-4566-91B8-DC4ACA404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A2DF4440-49B2-40B6-9907-80F30AA35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B05D3915-A22D-4292-81E2-CEFD63C6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034EA76-17B7-4B07-B408-5A043A7E0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8624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C11699A-7462-44AD-9250-C35714C8B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5409D27E-FBC3-4DD4-8881-D326BE32DB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05739426-757B-44DC-B7E5-E89E0E7C3A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43D3D529-EAB3-4B4D-8416-C9FE69EE4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F3E988AE-E90C-4A6A-8BD1-BB10D02E4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9A06CB2-581C-470B-BD5C-373107505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02998500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CF5A298-72E2-49B4-A107-29A2D6A1A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8403EF94-8ABE-4726-BC0E-74EE2040F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7384933-A953-42CA-B377-E6C442414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593F175-13CB-445D-B430-A9556C60AA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3B7381D-7B26-482B-A74F-07F8F3D32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98550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48D4F315-29B1-42AC-BE3E-2097DEEA88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5B672C6C-585E-4721-9ABC-FA2D641F98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B57123F-41D0-45B4-A486-08502E3B1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46B2070-DF67-4DA4-94BD-23237CF7D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BB7A9B4-5D13-4ED3-9E1A-C9B90582D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767519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C068B159-6433-499E-B5FB-D371F0BB6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5B4F160-A0D5-46AE-85E4-69081CE48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A113D77-E7EE-41EC-8455-FB6034D506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B06C95C-98F0-414D-B8B2-02A1B605E4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CA53C28-91FE-4DBC-9722-E9A52A15FD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858259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3.png"/><Relationship Id="rId7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11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3.png"/><Relationship Id="rId7" Type="http://schemas.openxmlformats.org/officeDocument/2006/relationships/image" Target="../media/image11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4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6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Ábra 7">
            <a:extLst>
              <a:ext uri="{FF2B5EF4-FFF2-40B4-BE49-F238E27FC236}">
                <a16:creationId xmlns:a16="http://schemas.microsoft.com/office/drawing/2014/main" id="{7D33FE9B-3A88-4257-8ACC-AF237582657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38600" y="1219200"/>
            <a:ext cx="4286407" cy="4419600"/>
          </a:xfrm>
          <a:prstGeom prst="rect">
            <a:avLst/>
          </a:prstGeom>
        </p:spPr>
      </p:pic>
      <p:sp>
        <p:nvSpPr>
          <p:cNvPr id="21" name="Google Shape;87;p1">
            <a:extLst>
              <a:ext uri="{FF2B5EF4-FFF2-40B4-BE49-F238E27FC236}">
                <a16:creationId xmlns:a16="http://schemas.microsoft.com/office/drawing/2014/main" id="{02D4799D-8EF7-41DA-B325-C367E9CE69CE}"/>
              </a:ext>
            </a:extLst>
          </p:cNvPr>
          <p:cNvSpPr txBox="1">
            <a:spLocks/>
          </p:cNvSpPr>
          <p:nvPr/>
        </p:nvSpPr>
        <p:spPr>
          <a:xfrm>
            <a:off x="3235430" y="4669846"/>
            <a:ext cx="5721141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spcBef>
                <a:spcPts val="0"/>
              </a:spcBef>
            </a:pPr>
            <a:r>
              <a:rPr lang="hu-HU" dirty="0">
                <a:latin typeface="Cambria"/>
                <a:ea typeface="Cambria"/>
              </a:rPr>
              <a:t>Készítették: </a:t>
            </a:r>
            <a:endParaRPr lang="hu-HU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indent="0">
              <a:spcBef>
                <a:spcPts val="0"/>
              </a:spcBef>
            </a:pPr>
            <a:r>
              <a:rPr lang="hu-HU" dirty="0">
                <a:latin typeface="Cambria"/>
                <a:ea typeface="Cambria"/>
              </a:rPr>
              <a:t>Mészáros Imre, </a:t>
            </a:r>
            <a:r>
              <a:rPr lang="hu-HU" dirty="0" err="1">
                <a:latin typeface="Cambria"/>
                <a:ea typeface="Cambria"/>
              </a:rPr>
              <a:t>Gubek</a:t>
            </a:r>
            <a:r>
              <a:rPr lang="hu-HU" dirty="0">
                <a:latin typeface="Cambria"/>
                <a:ea typeface="Cambria"/>
              </a:rPr>
              <a:t>-Szabó Tamás</a:t>
            </a: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E3034C36-D15F-4CDB-9B29-92D383F4064B}"/>
              </a:ext>
            </a:extLst>
          </p:cNvPr>
          <p:cNvSpPr txBox="1"/>
          <p:nvPr/>
        </p:nvSpPr>
        <p:spPr>
          <a:xfrm>
            <a:off x="2962770" y="2394820"/>
            <a:ext cx="6266459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0800" dirty="0">
                <a:solidFill>
                  <a:srgbClr val="479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Corelytics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Ábra 12">
            <a:extLst>
              <a:ext uri="{FF2B5EF4-FFF2-40B4-BE49-F238E27FC236}">
                <a16:creationId xmlns:a16="http://schemas.microsoft.com/office/drawing/2014/main" id="{729D7A69-9940-4747-AFBA-384F44A8962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2282" y="3734601"/>
            <a:ext cx="3580045" cy="3691289"/>
          </a:xfrm>
          <a:prstGeom prst="rect">
            <a:avLst/>
          </a:prstGeom>
        </p:spPr>
      </p:pic>
      <p:sp>
        <p:nvSpPr>
          <p:cNvPr id="12" name="Téglalap 11">
            <a:extLst>
              <a:ext uri="{FF2B5EF4-FFF2-40B4-BE49-F238E27FC236}">
                <a16:creationId xmlns:a16="http://schemas.microsoft.com/office/drawing/2014/main" id="{6DD3400B-8620-483E-AF5F-1EA6140AD060}"/>
              </a:ext>
            </a:extLst>
          </p:cNvPr>
          <p:cNvSpPr/>
          <p:nvPr/>
        </p:nvSpPr>
        <p:spPr>
          <a:xfrm>
            <a:off x="1644275" y="3574934"/>
            <a:ext cx="8865348" cy="841469"/>
          </a:xfrm>
          <a:prstGeom prst="rect">
            <a:avLst/>
          </a:prstGeom>
          <a:solidFill>
            <a:srgbClr val="93C6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Téglalap 1">
            <a:extLst>
              <a:ext uri="{FF2B5EF4-FFF2-40B4-BE49-F238E27FC236}">
                <a16:creationId xmlns:a16="http://schemas.microsoft.com/office/drawing/2014/main" id="{3AB089C9-98D5-4C81-A6B0-2CFBC0D4E157}"/>
              </a:ext>
            </a:extLst>
          </p:cNvPr>
          <p:cNvSpPr/>
          <p:nvPr/>
        </p:nvSpPr>
        <p:spPr>
          <a:xfrm>
            <a:off x="1644275" y="2725310"/>
            <a:ext cx="8865348" cy="841469"/>
          </a:xfrm>
          <a:prstGeom prst="rect">
            <a:avLst/>
          </a:prstGeom>
          <a:solidFill>
            <a:srgbClr val="479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98" name="Google Shape;98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dirty="0">
                <a:latin typeface="Cambria"/>
                <a:ea typeface="Cambria"/>
                <a:cs typeface="Cambria"/>
                <a:sym typeface="Cambria"/>
              </a:rPr>
              <a:t>Bevezetés</a:t>
            </a: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: Probléma és Megoldás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05" name="Google Shape;105;p2"/>
          <p:cNvSpPr txBox="1">
            <a:spLocks noGrp="1"/>
          </p:cNvSpPr>
          <p:nvPr>
            <p:ph idx="1"/>
          </p:nvPr>
        </p:nvSpPr>
        <p:spPr>
          <a:xfrm>
            <a:off x="1453273" y="1712789"/>
            <a:ext cx="9056350" cy="82487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700" b="1" dirty="0">
                <a:latin typeface="Times New Roman"/>
                <a:ea typeface="Times New Roman"/>
                <a:cs typeface="Times New Roman"/>
                <a:sym typeface="Times New Roman"/>
              </a:rPr>
              <a:t>Projekt név:</a:t>
            </a:r>
            <a:r>
              <a:rPr lang="hu-HU" sz="1700" dirty="0">
                <a:latin typeface="Times New Roman"/>
                <a:ea typeface="Times New Roman"/>
                <a:cs typeface="Times New Roman"/>
                <a:sym typeface="Times New Roman"/>
              </a:rPr>
              <a:t> Corelytics</a:t>
            </a:r>
          </a:p>
          <a:p>
            <a:pPr marL="22860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700" b="1" dirty="0">
                <a:latin typeface="Times New Roman"/>
                <a:ea typeface="Times New Roman"/>
                <a:cs typeface="Times New Roman"/>
                <a:sym typeface="Times New Roman"/>
              </a:rPr>
              <a:t>Cél: E</a:t>
            </a:r>
            <a:r>
              <a:rPr lang="hu-HU" sz="1700" dirty="0">
                <a:latin typeface="Times New Roman"/>
                <a:ea typeface="Times New Roman"/>
                <a:cs typeface="Times New Roman"/>
                <a:sym typeface="Times New Roman"/>
              </a:rPr>
              <a:t>gy egységes és egyszerű edzés és étel naplózó weboldal és applikáció.</a:t>
            </a:r>
            <a:endParaRPr lang="hu-HU" sz="1700" dirty="0">
              <a:latin typeface="Cambria" panose="02040503050406030204" pitchFamily="18" charset="0"/>
              <a:ea typeface="Cambria" panose="02040503050406030204" pitchFamily="18" charset="0"/>
              <a:cs typeface="Times New Roman"/>
              <a:sym typeface="Times New Roman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1453272" y="2725310"/>
            <a:ext cx="7575673" cy="565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>
              <a:lnSpc>
                <a:spcPct val="90000"/>
              </a:lnSpc>
            </a:pPr>
            <a:r>
              <a:rPr lang="hu-HU" sz="1700" b="1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Probléma</a:t>
            </a:r>
            <a:br>
              <a:rPr lang="en-US" sz="17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hu-HU" sz="1700" b="1" dirty="0">
                <a:solidFill>
                  <a:schemeClr val="bg1"/>
                </a:solidFill>
                <a:latin typeface="Times New Roman"/>
                <a:ea typeface="Calibri"/>
                <a:cs typeface="Times New Roman"/>
              </a:rPr>
              <a:t>Különböző naplózási alkalmazások, hiányzó vagy túlkomplikált funkciókkal.</a:t>
            </a:r>
          </a:p>
        </p:txBody>
      </p:sp>
      <p:sp>
        <p:nvSpPr>
          <p:cNvPr id="104" name="Google Shape;104;p2"/>
          <p:cNvSpPr txBox="1"/>
          <p:nvPr/>
        </p:nvSpPr>
        <p:spPr>
          <a:xfrm>
            <a:off x="1644275" y="3633348"/>
            <a:ext cx="8903449" cy="599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algn="r">
              <a:lnSpc>
                <a:spcPct val="90000"/>
              </a:lnSpc>
            </a:pPr>
            <a:r>
              <a:rPr lang="hu-HU" sz="17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Megoldás</a:t>
            </a:r>
            <a:br>
              <a:rPr lang="hu-HU" sz="17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hu-HU" sz="1700" b="1" dirty="0">
                <a:solidFill>
                  <a:schemeClr val="dk1"/>
                </a:solidFill>
                <a:latin typeface="Times New Roman"/>
                <a:ea typeface="Calibri"/>
                <a:cs typeface="Times New Roman"/>
              </a:rPr>
              <a:t>Egy egységes oldal a probléma megoldásra</a:t>
            </a:r>
            <a:endParaRPr lang="hu-HU" sz="1700" dirty="0">
              <a:solidFill>
                <a:schemeClr val="dk1"/>
              </a:solidFill>
              <a:latin typeface="Times New Roman"/>
              <a:ea typeface="Calibri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Ábra 18">
            <a:extLst>
              <a:ext uri="{FF2B5EF4-FFF2-40B4-BE49-F238E27FC236}">
                <a16:creationId xmlns:a16="http://schemas.microsoft.com/office/drawing/2014/main" id="{2424207F-CD7F-4DE1-90C3-4B964185C44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2282" y="3734601"/>
            <a:ext cx="3580045" cy="3691289"/>
          </a:xfrm>
          <a:prstGeom prst="rect">
            <a:avLst/>
          </a:prstGeom>
        </p:spPr>
      </p:pic>
      <p:sp>
        <p:nvSpPr>
          <p:cNvPr id="176" name="Google Shape;176;p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Csapatmunka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77" name="Google Shape;177;p9"/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4800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dirty="0">
                <a:solidFill>
                  <a:srgbClr val="00000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Arial"/>
              </a:rPr>
              <a:t>Kommunikáció</a:t>
            </a:r>
            <a:r>
              <a:rPr lang="hu-HU" sz="17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: Instagram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endParaRPr lang="hu-HU" sz="17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dirty="0">
                <a:solidFill>
                  <a:srgbClr val="00000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Arial"/>
              </a:rPr>
              <a:t>Megosztott munka</a:t>
            </a:r>
            <a:r>
              <a:rPr lang="hu-HU" sz="17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: </a:t>
            </a:r>
            <a:r>
              <a:rPr lang="hu-HU" sz="17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Github</a:t>
            </a:r>
            <a:endParaRPr lang="hu-HU" sz="1700" dirty="0" err="1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endParaRPr lang="hu-HU" sz="17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</p:txBody>
      </p:sp>
      <p:sp>
        <p:nvSpPr>
          <p:cNvPr id="3" name="AutoShape 2" descr="Github Logo - Free social media icons">
            <a:extLst>
              <a:ext uri="{FF2B5EF4-FFF2-40B4-BE49-F238E27FC236}">
                <a16:creationId xmlns:a16="http://schemas.microsoft.com/office/drawing/2014/main" id="{68C5950A-838F-42FC-94E0-5B877D1E740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pic>
        <p:nvPicPr>
          <p:cNvPr id="4102" name="Picture 6" descr="Github logo - free Icon PNG, SVG">
            <a:extLst>
              <a:ext uri="{FF2B5EF4-FFF2-40B4-BE49-F238E27FC236}">
                <a16:creationId xmlns:a16="http://schemas.microsoft.com/office/drawing/2014/main" id="{3B63C3EF-C721-49AC-B027-3A2807265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6195" y="2278441"/>
            <a:ext cx="441647" cy="4416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Kép 1" descr="File:Instagram logo 2022.svg - Wikimedia Commons">
            <a:extLst>
              <a:ext uri="{FF2B5EF4-FFF2-40B4-BE49-F238E27FC236}">
                <a16:creationId xmlns:a16="http://schemas.microsoft.com/office/drawing/2014/main" id="{BEA08648-175A-E925-8FD7-EECDBA4F5D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06195" y="1803729"/>
            <a:ext cx="352575" cy="361671"/>
          </a:xfrm>
          <a:prstGeom prst="rect">
            <a:avLst/>
          </a:prstGeom>
        </p:spPr>
      </p:pic>
      <p:pic>
        <p:nvPicPr>
          <p:cNvPr id="7" name="Kép 6" descr="A képen Emberi arc, ruházat, személy, nyakkendő látható&#10;&#10;Lehet, hogy az AI által létrehozott tartalom helytelen.">
            <a:extLst>
              <a:ext uri="{FF2B5EF4-FFF2-40B4-BE49-F238E27FC236}">
                <a16:creationId xmlns:a16="http://schemas.microsoft.com/office/drawing/2014/main" id="{FA08A92C-0B82-430C-BCC6-45097E31233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92387" y="3890683"/>
            <a:ext cx="1705075" cy="253253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8" name="Kép 7" descr="A képen Emberi arc, ruházat, személy, portré látható&#10;&#10;Lehet, hogy az AI által létrehozott tartalom helytelen.">
            <a:extLst>
              <a:ext uri="{FF2B5EF4-FFF2-40B4-BE49-F238E27FC236}">
                <a16:creationId xmlns:a16="http://schemas.microsoft.com/office/drawing/2014/main" id="{554E4A63-4BFF-432D-B92A-CE0ED1F1AB8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4539" y="3890683"/>
            <a:ext cx="1738693" cy="255494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4" name="Szövegdoboz 3">
            <a:extLst>
              <a:ext uri="{FF2B5EF4-FFF2-40B4-BE49-F238E27FC236}">
                <a16:creationId xmlns:a16="http://schemas.microsoft.com/office/drawing/2014/main" id="{51B7F9F0-A84E-4B64-86C6-C136A9044FA2}"/>
              </a:ext>
            </a:extLst>
          </p:cNvPr>
          <p:cNvSpPr txBox="1"/>
          <p:nvPr/>
        </p:nvSpPr>
        <p:spPr>
          <a:xfrm>
            <a:off x="592071" y="4014560"/>
            <a:ext cx="3511348" cy="8679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 pitchFamily="34" charset="0"/>
              <a:buChar char="•"/>
            </a:pPr>
            <a:r>
              <a:rPr lang="hu-HU" sz="18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Frontend &amp; Dokumentumok</a:t>
            </a:r>
            <a:r>
              <a:rPr lang="hu-HU" sz="18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: Mészáros Imre</a:t>
            </a:r>
            <a:endParaRPr lang="hu-HU" sz="1800" b="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  <a:p>
            <a:endParaRPr lang="hu-HU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685BCA3C-D0CC-4697-8CA4-DA757253FDF2}"/>
              </a:ext>
            </a:extLst>
          </p:cNvPr>
          <p:cNvSpPr txBox="1"/>
          <p:nvPr/>
        </p:nvSpPr>
        <p:spPr>
          <a:xfrm>
            <a:off x="8256494" y="3974401"/>
            <a:ext cx="3097306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8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Backend &amp; API</a:t>
            </a:r>
            <a:r>
              <a:rPr lang="hu-HU" sz="18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: </a:t>
            </a:r>
          </a:p>
          <a:p>
            <a: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</a:pPr>
            <a:r>
              <a:rPr lang="hu-HU" sz="18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    </a:t>
            </a:r>
            <a:r>
              <a:rPr lang="hu-HU" sz="18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Gubek</a:t>
            </a:r>
            <a:r>
              <a:rPr lang="hu-HU" sz="18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-Szabó Tamás</a:t>
            </a:r>
          </a:p>
        </p:txBody>
      </p:sp>
      <p:sp>
        <p:nvSpPr>
          <p:cNvPr id="17" name="Téglalap 16">
            <a:extLst>
              <a:ext uri="{FF2B5EF4-FFF2-40B4-BE49-F238E27FC236}">
                <a16:creationId xmlns:a16="http://schemas.microsoft.com/office/drawing/2014/main" id="{A9354F7B-8B49-4AE0-AC52-15940795F551}"/>
              </a:ext>
            </a:extLst>
          </p:cNvPr>
          <p:cNvSpPr/>
          <p:nvPr/>
        </p:nvSpPr>
        <p:spPr>
          <a:xfrm>
            <a:off x="4103419" y="3890683"/>
            <a:ext cx="1694043" cy="2532530"/>
          </a:xfrm>
          <a:prstGeom prst="rect">
            <a:avLst/>
          </a:prstGeom>
          <a:solidFill>
            <a:srgbClr val="479FFF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8" name="Téglalap 17">
            <a:extLst>
              <a:ext uri="{FF2B5EF4-FFF2-40B4-BE49-F238E27FC236}">
                <a16:creationId xmlns:a16="http://schemas.microsoft.com/office/drawing/2014/main" id="{4E8A85A5-E426-4C68-A4CA-029373DD2F9D}"/>
              </a:ext>
            </a:extLst>
          </p:cNvPr>
          <p:cNvSpPr/>
          <p:nvPr/>
        </p:nvSpPr>
        <p:spPr>
          <a:xfrm>
            <a:off x="6394539" y="3890682"/>
            <a:ext cx="1694043" cy="2532529"/>
          </a:xfrm>
          <a:prstGeom prst="rect">
            <a:avLst/>
          </a:prstGeom>
          <a:solidFill>
            <a:srgbClr val="93C6FF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1" name="Trapezoid 20">
            <a:extLst>
              <a:ext uri="{FF2B5EF4-FFF2-40B4-BE49-F238E27FC236}">
                <a16:creationId xmlns:a16="http://schemas.microsoft.com/office/drawing/2014/main" id="{DD6BA8C7-0672-4CD3-ABC6-1BB1F1E1D04F}"/>
              </a:ext>
            </a:extLst>
          </p:cNvPr>
          <p:cNvSpPr/>
          <p:nvPr/>
        </p:nvSpPr>
        <p:spPr>
          <a:xfrm rot="10800000">
            <a:off x="1315265" y="7212167"/>
            <a:ext cx="1610924" cy="855053"/>
          </a:xfrm>
          <a:prstGeom prst="trapezoid">
            <a:avLst/>
          </a:prstGeom>
          <a:solidFill>
            <a:srgbClr val="479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2" name="Trapezoid 21">
            <a:extLst>
              <a:ext uri="{FF2B5EF4-FFF2-40B4-BE49-F238E27FC236}">
                <a16:creationId xmlns:a16="http://schemas.microsoft.com/office/drawing/2014/main" id="{05C4641E-93CE-4E72-B242-06FA90CD5E85}"/>
              </a:ext>
            </a:extLst>
          </p:cNvPr>
          <p:cNvSpPr/>
          <p:nvPr/>
        </p:nvSpPr>
        <p:spPr>
          <a:xfrm>
            <a:off x="9144000" y="-964158"/>
            <a:ext cx="1610924" cy="855053"/>
          </a:xfrm>
          <a:prstGeom prst="trapezoid">
            <a:avLst/>
          </a:prstGeom>
          <a:solidFill>
            <a:srgbClr val="B4D8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églalap 11">
            <a:extLst>
              <a:ext uri="{FF2B5EF4-FFF2-40B4-BE49-F238E27FC236}">
                <a16:creationId xmlns:a16="http://schemas.microsoft.com/office/drawing/2014/main" id="{2EE19E98-3725-40D6-A9D1-7F42CF17BFF2}"/>
              </a:ext>
            </a:extLst>
          </p:cNvPr>
          <p:cNvSpPr/>
          <p:nvPr/>
        </p:nvSpPr>
        <p:spPr>
          <a:xfrm>
            <a:off x="6794500" y="3093272"/>
            <a:ext cx="3960456" cy="2707640"/>
          </a:xfrm>
          <a:prstGeom prst="rect">
            <a:avLst/>
          </a:prstGeom>
          <a:solidFill>
            <a:srgbClr val="93C6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rgbClr val="FFFFFF"/>
              </a:solidFill>
              <a:ea typeface="Calibri"/>
              <a:cs typeface="Calibri"/>
            </a:endParaRPr>
          </a:p>
        </p:txBody>
      </p:sp>
      <p:pic>
        <p:nvPicPr>
          <p:cNvPr id="10" name="Ábra 9">
            <a:extLst>
              <a:ext uri="{FF2B5EF4-FFF2-40B4-BE49-F238E27FC236}">
                <a16:creationId xmlns:a16="http://schemas.microsoft.com/office/drawing/2014/main" id="{FC632D80-E514-4104-A464-76C80BF6544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2282" y="3734601"/>
            <a:ext cx="3580045" cy="3691289"/>
          </a:xfrm>
          <a:prstGeom prst="rect">
            <a:avLst/>
          </a:prstGeom>
        </p:spPr>
      </p:pic>
      <p:sp>
        <p:nvSpPr>
          <p:cNvPr id="111" name="Google Shape;111;p3"/>
          <p:cNvSpPr txBox="1">
            <a:spLocks noGrp="1"/>
          </p:cNvSpPr>
          <p:nvPr>
            <p:ph type="title"/>
          </p:nvPr>
        </p:nvSpPr>
        <p:spPr>
          <a:xfrm>
            <a:off x="561974" y="356522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algn="ctr">
              <a:spcBef>
                <a:spcPts val="0"/>
              </a:spcBef>
              <a:buClr>
                <a:schemeClr val="dk1"/>
              </a:buClr>
              <a:buSzPts val="4400"/>
            </a:pPr>
            <a:r>
              <a:rPr lang="hu-HU" dirty="0">
                <a:latin typeface="Cambria"/>
                <a:ea typeface="Cambria"/>
              </a:rPr>
              <a:t>A program funkciói</a:t>
            </a:r>
            <a:endParaRPr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sp>
        <p:nvSpPr>
          <p:cNvPr id="6" name="Trapezoid 5">
            <a:extLst>
              <a:ext uri="{FF2B5EF4-FFF2-40B4-BE49-F238E27FC236}">
                <a16:creationId xmlns:a16="http://schemas.microsoft.com/office/drawing/2014/main" id="{2B74B495-5BEF-20FE-44CA-E85D5BFB38F8}"/>
              </a:ext>
            </a:extLst>
          </p:cNvPr>
          <p:cNvSpPr/>
          <p:nvPr/>
        </p:nvSpPr>
        <p:spPr>
          <a:xfrm rot="10800000">
            <a:off x="1315265" y="5588931"/>
            <a:ext cx="1610924" cy="855053"/>
          </a:xfrm>
          <a:prstGeom prst="trapezoid">
            <a:avLst/>
          </a:prstGeom>
          <a:solidFill>
            <a:srgbClr val="479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1" name="Téglalap 10">
            <a:extLst>
              <a:ext uri="{FF2B5EF4-FFF2-40B4-BE49-F238E27FC236}">
                <a16:creationId xmlns:a16="http://schemas.microsoft.com/office/drawing/2014/main" id="{26CC7ABE-66C9-494A-ADA5-AFA6C6FEAA1C}"/>
              </a:ext>
            </a:extLst>
          </p:cNvPr>
          <p:cNvSpPr/>
          <p:nvPr/>
        </p:nvSpPr>
        <p:spPr>
          <a:xfrm>
            <a:off x="1315265" y="3093271"/>
            <a:ext cx="4082236" cy="2707641"/>
          </a:xfrm>
          <a:prstGeom prst="rect">
            <a:avLst/>
          </a:prstGeom>
          <a:solidFill>
            <a:srgbClr val="3796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63260308-945B-4FF1-BBB7-B9157A2CBB32}"/>
              </a:ext>
            </a:extLst>
          </p:cNvPr>
          <p:cNvSpPr txBox="1"/>
          <p:nvPr/>
        </p:nvSpPr>
        <p:spPr>
          <a:xfrm>
            <a:off x="2569661" y="3868361"/>
            <a:ext cx="157344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hu-HU" dirty="0">
                <a:solidFill>
                  <a:schemeClr val="bg1"/>
                </a:solidFill>
                <a:ea typeface="Calibri"/>
                <a:cs typeface="Calibri"/>
              </a:rPr>
              <a:t>Regisztráció</a:t>
            </a:r>
          </a:p>
          <a:p>
            <a:pPr algn="ctr"/>
            <a:r>
              <a:rPr lang="hu-HU" dirty="0">
                <a:solidFill>
                  <a:schemeClr val="bg1"/>
                </a:solidFill>
                <a:ea typeface="Calibri"/>
                <a:cs typeface="Calibri"/>
              </a:rPr>
              <a:t>Bejelentkezés</a:t>
            </a:r>
          </a:p>
          <a:p>
            <a:pPr algn="ctr"/>
            <a:r>
              <a:rPr lang="hu-HU" dirty="0">
                <a:solidFill>
                  <a:schemeClr val="bg1"/>
                </a:solidFill>
                <a:ea typeface="Calibri"/>
                <a:cs typeface="Calibri"/>
              </a:rPr>
              <a:t>Étel naplózás</a:t>
            </a:r>
          </a:p>
          <a:p>
            <a:pPr algn="ctr"/>
            <a:r>
              <a:rPr lang="hu-HU" dirty="0">
                <a:solidFill>
                  <a:schemeClr val="bg1"/>
                </a:solidFill>
                <a:ea typeface="Calibri"/>
                <a:cs typeface="Calibri"/>
              </a:rPr>
              <a:t>Edzés naplózás</a:t>
            </a:r>
          </a:p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18EDEF80-B52F-4214-A044-5CC3C9FA4F9F}"/>
              </a:ext>
            </a:extLst>
          </p:cNvPr>
          <p:cNvSpPr txBox="1"/>
          <p:nvPr/>
        </p:nvSpPr>
        <p:spPr>
          <a:xfrm>
            <a:off x="6859716" y="3868361"/>
            <a:ext cx="383002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hu-HU" dirty="0">
                <a:solidFill>
                  <a:srgbClr val="FFFFFF"/>
                </a:solidFill>
                <a:ea typeface="Calibri"/>
                <a:cs typeface="Calibri"/>
              </a:rPr>
              <a:t>"CRUD" adattárolás</a:t>
            </a:r>
          </a:p>
          <a:p>
            <a:pPr algn="ctr"/>
            <a:r>
              <a:rPr lang="hu-HU" dirty="0">
                <a:solidFill>
                  <a:srgbClr val="FFFFFF"/>
                </a:solidFill>
                <a:ea typeface="Calibri"/>
                <a:cs typeface="Calibri"/>
              </a:rPr>
              <a:t>Moderátori felület</a:t>
            </a:r>
          </a:p>
          <a:p>
            <a:pPr algn="ctr"/>
            <a:r>
              <a:rPr lang="hu-HU" dirty="0">
                <a:solidFill>
                  <a:srgbClr val="FFFFFF"/>
                </a:solidFill>
                <a:ea typeface="Calibri"/>
                <a:cs typeface="Calibri"/>
              </a:rPr>
              <a:t>Naplózás, szerkesztés</a:t>
            </a:r>
            <a:endParaRPr lang="hu-HU" dirty="0">
              <a:solidFill>
                <a:srgbClr val="000000"/>
              </a:solidFill>
              <a:ea typeface="Calibri"/>
              <a:cs typeface="Calibri"/>
            </a:endParaRPr>
          </a:p>
          <a:p>
            <a:pPr algn="ctr"/>
            <a:r>
              <a:rPr lang="hu-HU" dirty="0" err="1">
                <a:solidFill>
                  <a:srgbClr val="FFFFFF"/>
                </a:solidFill>
                <a:ea typeface="Calibri"/>
                <a:cs typeface="Calibri"/>
              </a:rPr>
              <a:t>Barcode</a:t>
            </a:r>
            <a:r>
              <a:rPr lang="hu-HU" dirty="0">
                <a:solidFill>
                  <a:srgbClr val="FFFFFF"/>
                </a:solidFill>
                <a:ea typeface="Calibri"/>
                <a:cs typeface="Calibri"/>
              </a:rPr>
              <a:t> olvasás mobilos applikációban</a:t>
            </a:r>
            <a:endParaRPr lang="hu-HU" dirty="0"/>
          </a:p>
          <a:p>
            <a:pPr algn="ctr"/>
            <a:endParaRPr lang="hu-HU" dirty="0">
              <a:solidFill>
                <a:srgbClr val="FFFFFF"/>
              </a:solidFill>
              <a:ea typeface="Calibri"/>
              <a:cs typeface="Calibri"/>
            </a:endParaRPr>
          </a:p>
          <a:p>
            <a:endParaRPr lang="hu-HU" dirty="0"/>
          </a:p>
        </p:txBody>
      </p:sp>
      <p:sp>
        <p:nvSpPr>
          <p:cNvPr id="14" name="Trapezoid 13">
            <a:extLst>
              <a:ext uri="{FF2B5EF4-FFF2-40B4-BE49-F238E27FC236}">
                <a16:creationId xmlns:a16="http://schemas.microsoft.com/office/drawing/2014/main" id="{5CAA102E-E621-41A5-9808-FF3B0788152E}"/>
              </a:ext>
            </a:extLst>
          </p:cNvPr>
          <p:cNvSpPr/>
          <p:nvPr/>
        </p:nvSpPr>
        <p:spPr>
          <a:xfrm>
            <a:off x="9144032" y="2238218"/>
            <a:ext cx="1610924" cy="855053"/>
          </a:xfrm>
          <a:prstGeom prst="trapezoid">
            <a:avLst/>
          </a:prstGeom>
          <a:solidFill>
            <a:srgbClr val="B4D8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Kép 19" descr="next-auth - npm">
            <a:extLst>
              <a:ext uri="{FF2B5EF4-FFF2-40B4-BE49-F238E27FC236}">
                <a16:creationId xmlns:a16="http://schemas.microsoft.com/office/drawing/2014/main" id="{90821AFE-44E3-4436-A3D9-FA8274633A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270" y="4316141"/>
            <a:ext cx="1588994" cy="1762161"/>
          </a:xfrm>
          <a:prstGeom prst="rect">
            <a:avLst/>
          </a:prstGeom>
        </p:spPr>
      </p:pic>
      <p:pic>
        <p:nvPicPr>
          <p:cNvPr id="15" name="Ábra 14">
            <a:extLst>
              <a:ext uri="{FF2B5EF4-FFF2-40B4-BE49-F238E27FC236}">
                <a16:creationId xmlns:a16="http://schemas.microsoft.com/office/drawing/2014/main" id="{B075D840-D03A-4F91-98ED-BD8B4309540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2282" y="3734601"/>
            <a:ext cx="3580045" cy="3691289"/>
          </a:xfrm>
          <a:prstGeom prst="rect">
            <a:avLst/>
          </a:prstGeom>
        </p:spPr>
      </p:pic>
      <p:sp>
        <p:nvSpPr>
          <p:cNvPr id="132" name="Google Shape;132;p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Rendszer felépítés 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Téglalap: lekerekített 1">
            <a:extLst>
              <a:ext uri="{FF2B5EF4-FFF2-40B4-BE49-F238E27FC236}">
                <a16:creationId xmlns:a16="http://schemas.microsoft.com/office/drawing/2014/main" id="{0041D6DE-0362-4246-BAE7-23F0454B8012}"/>
              </a:ext>
            </a:extLst>
          </p:cNvPr>
          <p:cNvSpPr/>
          <p:nvPr/>
        </p:nvSpPr>
        <p:spPr>
          <a:xfrm>
            <a:off x="8623534" y="3232347"/>
            <a:ext cx="2730266" cy="3072900"/>
          </a:xfrm>
          <a:prstGeom prst="roundRect">
            <a:avLst/>
          </a:prstGeom>
          <a:solidFill>
            <a:srgbClr val="B5D9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3200" b="1" i="1" dirty="0">
                <a:solidFill>
                  <a:schemeClr val="dk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  <a:sym typeface="Cambria"/>
              </a:rPr>
              <a:t>Adatbázis</a:t>
            </a:r>
          </a:p>
          <a:p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 </a:t>
            </a:r>
          </a:p>
          <a:p>
            <a:pPr algn="ctr"/>
            <a:r>
              <a:rPr lang="hu-HU" sz="18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PostrgeSQL</a:t>
            </a: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 </a:t>
            </a:r>
          </a:p>
          <a:p>
            <a:pPr algn="ctr"/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ORM: </a:t>
            </a:r>
            <a:r>
              <a:rPr lang="hu-HU" sz="18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Prisma</a:t>
            </a:r>
            <a:endParaRPr lang="hu-HU" sz="1800" dirty="0">
              <a:solidFill>
                <a:schemeClr val="dk1"/>
              </a:solidFill>
              <a:latin typeface="Times New Roman"/>
              <a:ea typeface="Times New Roman"/>
              <a:cs typeface="Times New Roman"/>
            </a:endParaRPr>
          </a:p>
          <a:p>
            <a:pPr algn="ctr"/>
            <a:endParaRPr lang="hu-HU" b="1" dirty="0"/>
          </a:p>
        </p:txBody>
      </p:sp>
      <p:sp>
        <p:nvSpPr>
          <p:cNvPr id="13" name="Téglalap: lekerekített 12">
            <a:extLst>
              <a:ext uri="{FF2B5EF4-FFF2-40B4-BE49-F238E27FC236}">
                <a16:creationId xmlns:a16="http://schemas.microsoft.com/office/drawing/2014/main" id="{0938EA1E-6766-4881-9228-753FEEAB009D}"/>
              </a:ext>
            </a:extLst>
          </p:cNvPr>
          <p:cNvSpPr/>
          <p:nvPr/>
        </p:nvSpPr>
        <p:spPr>
          <a:xfrm>
            <a:off x="838200" y="3419975"/>
            <a:ext cx="2730266" cy="3072900"/>
          </a:xfrm>
          <a:prstGeom prst="roundRect">
            <a:avLst/>
          </a:prstGeom>
          <a:solidFill>
            <a:srgbClr val="B5D9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b="1" i="1" dirty="0">
                <a:solidFill>
                  <a:schemeClr val="tx1"/>
                </a:solidFill>
                <a:latin typeface="Cambria"/>
                <a:ea typeface="Cambria"/>
              </a:rPr>
              <a:t>Futtatási környezet</a:t>
            </a:r>
          </a:p>
          <a:p>
            <a:pPr algn="ctr"/>
            <a:endParaRPr lang="hu-HU" sz="1400" b="1" dirty="0">
              <a:solidFill>
                <a:schemeClr val="dk1"/>
              </a:solidFill>
              <a:latin typeface="Cambria"/>
              <a:ea typeface="Cambria"/>
              <a:cs typeface="Calibri"/>
            </a:endParaRPr>
          </a:p>
          <a:p>
            <a:pPr algn="ctr"/>
            <a:r>
              <a:rPr lang="hu-HU" sz="1800" dirty="0" err="1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Hosting</a:t>
            </a:r>
            <a:r>
              <a:rPr lang="hu-HU" sz="1800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Vercel</a:t>
            </a:r>
            <a:endParaRPr lang="hu-HU" sz="1800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  <a:p>
            <a:pPr algn="ctr"/>
            <a:r>
              <a:rPr lang="hu-HU" sz="1800" dirty="0" err="1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Node.Js</a:t>
            </a:r>
            <a:endParaRPr lang="hu-HU" sz="1800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  <a:p>
            <a:pPr algn="ctr"/>
            <a:r>
              <a:rPr lang="hu-HU" sz="1800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Böngésző(Chrome, Firefox)</a:t>
            </a:r>
          </a:p>
          <a:p>
            <a:pPr algn="ctr"/>
            <a:r>
              <a:rPr lang="hu-HU" sz="1800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Android(</a:t>
            </a:r>
            <a:r>
              <a:rPr lang="hu-HU" sz="1800" dirty="0" err="1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Capacitor</a:t>
            </a:r>
            <a:r>
              <a:rPr lang="hu-HU" sz="1800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)</a:t>
            </a:r>
            <a:endParaRPr lang="hu-H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églalap: lekerekített 13">
            <a:extLst>
              <a:ext uri="{FF2B5EF4-FFF2-40B4-BE49-F238E27FC236}">
                <a16:creationId xmlns:a16="http://schemas.microsoft.com/office/drawing/2014/main" id="{12988EA7-B0AF-4E33-BFFF-C1AADAAC3589}"/>
              </a:ext>
            </a:extLst>
          </p:cNvPr>
          <p:cNvSpPr/>
          <p:nvPr/>
        </p:nvSpPr>
        <p:spPr>
          <a:xfrm>
            <a:off x="4730867" y="2648147"/>
            <a:ext cx="2730266" cy="3072900"/>
          </a:xfrm>
          <a:prstGeom prst="roundRect">
            <a:avLst/>
          </a:prstGeom>
          <a:solidFill>
            <a:srgbClr val="479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3200" b="1" i="1" dirty="0">
                <a:solidFill>
                  <a:schemeClr val="dk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  <a:sym typeface="Cambria"/>
              </a:rPr>
              <a:t>Framework</a:t>
            </a:r>
          </a:p>
          <a:p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 </a:t>
            </a:r>
          </a:p>
          <a:p>
            <a:pPr algn="ctr"/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Next.js</a:t>
            </a:r>
          </a:p>
          <a:p>
            <a:pPr algn="ctr"/>
            <a:endParaRPr lang="hu-HU" b="1" dirty="0"/>
          </a:p>
        </p:txBody>
      </p:sp>
      <p:sp>
        <p:nvSpPr>
          <p:cNvPr id="16" name="Téglalap 15">
            <a:extLst>
              <a:ext uri="{FF2B5EF4-FFF2-40B4-BE49-F238E27FC236}">
                <a16:creationId xmlns:a16="http://schemas.microsoft.com/office/drawing/2014/main" id="{B6E34DEF-7F1F-4510-BDD9-F662D6C5B253}"/>
              </a:ext>
            </a:extLst>
          </p:cNvPr>
          <p:cNvSpPr/>
          <p:nvPr/>
        </p:nvSpPr>
        <p:spPr>
          <a:xfrm>
            <a:off x="1079500" y="3734601"/>
            <a:ext cx="2285999" cy="2570646"/>
          </a:xfrm>
          <a:prstGeom prst="rect">
            <a:avLst/>
          </a:prstGeom>
          <a:solidFill>
            <a:srgbClr val="3796FF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17" name="Téglalap 16">
            <a:extLst>
              <a:ext uri="{FF2B5EF4-FFF2-40B4-BE49-F238E27FC236}">
                <a16:creationId xmlns:a16="http://schemas.microsoft.com/office/drawing/2014/main" id="{D931D518-8A9E-4CBC-8826-1AAEF352B715}"/>
              </a:ext>
            </a:extLst>
          </p:cNvPr>
          <p:cNvSpPr/>
          <p:nvPr/>
        </p:nvSpPr>
        <p:spPr>
          <a:xfrm>
            <a:off x="8902700" y="3445375"/>
            <a:ext cx="2209800" cy="2707640"/>
          </a:xfrm>
          <a:prstGeom prst="rect">
            <a:avLst/>
          </a:prstGeom>
          <a:solidFill>
            <a:srgbClr val="93C6FF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18" name="Trapezoid 17">
            <a:extLst>
              <a:ext uri="{FF2B5EF4-FFF2-40B4-BE49-F238E27FC236}">
                <a16:creationId xmlns:a16="http://schemas.microsoft.com/office/drawing/2014/main" id="{73F07186-21D8-4253-BCC1-4B42692FA8A8}"/>
              </a:ext>
            </a:extLst>
          </p:cNvPr>
          <p:cNvSpPr/>
          <p:nvPr/>
        </p:nvSpPr>
        <p:spPr>
          <a:xfrm rot="10800000">
            <a:off x="4991100" y="4165600"/>
            <a:ext cx="2153203" cy="1414645"/>
          </a:xfrm>
          <a:prstGeom prst="trapezoid">
            <a:avLst/>
          </a:prstGeom>
          <a:solidFill>
            <a:srgbClr val="479FFF">
              <a:alpha val="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9" name="Trapezoid 18">
            <a:extLst>
              <a:ext uri="{FF2B5EF4-FFF2-40B4-BE49-F238E27FC236}">
                <a16:creationId xmlns:a16="http://schemas.microsoft.com/office/drawing/2014/main" id="{1B1810D0-2FEB-41A4-BC21-DBE3A841C576}"/>
              </a:ext>
            </a:extLst>
          </p:cNvPr>
          <p:cNvSpPr/>
          <p:nvPr/>
        </p:nvSpPr>
        <p:spPr>
          <a:xfrm>
            <a:off x="4789554" y="2738052"/>
            <a:ext cx="2556294" cy="1414646"/>
          </a:xfrm>
          <a:prstGeom prst="trapezoid">
            <a:avLst/>
          </a:prstGeom>
          <a:solidFill>
            <a:srgbClr val="B4D8FF">
              <a:alpha val="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Ábra 6">
            <a:extLst>
              <a:ext uri="{FF2B5EF4-FFF2-40B4-BE49-F238E27FC236}">
                <a16:creationId xmlns:a16="http://schemas.microsoft.com/office/drawing/2014/main" id="{27ED6BA0-FE9B-40A0-A008-6546034A32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20340000">
            <a:off x="7495020" y="2856378"/>
            <a:ext cx="2085109" cy="2142565"/>
          </a:xfrm>
          <a:prstGeom prst="rect">
            <a:avLst/>
          </a:prstGeom>
        </p:spPr>
      </p:pic>
      <p:pic>
        <p:nvPicPr>
          <p:cNvPr id="6" name="Ábra 5">
            <a:extLst>
              <a:ext uri="{FF2B5EF4-FFF2-40B4-BE49-F238E27FC236}">
                <a16:creationId xmlns:a16="http://schemas.microsoft.com/office/drawing/2014/main" id="{8B94AC43-5D56-46C2-8991-13D9C7688838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2282" y="3734601"/>
            <a:ext cx="3580045" cy="3691289"/>
          </a:xfrm>
          <a:prstGeom prst="rect">
            <a:avLst/>
          </a:prstGeom>
        </p:spPr>
      </p:pic>
      <p:sp>
        <p:nvSpPr>
          <p:cNvPr id="152" name="Google Shape;152;p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Backend &amp; API Fejlesztés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3" name="Google Shape;153;p5"/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4621306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numCol="1" anchor="ctr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dirty="0">
                <a:latin typeface="Cambria" panose="02040503050406030204" pitchFamily="18" charset="0"/>
                <a:ea typeface="Cambria" panose="02040503050406030204" pitchFamily="18" charset="0"/>
              </a:rPr>
              <a:t>Architektúra</a:t>
            </a:r>
            <a:r>
              <a:rPr lang="hu-HU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hu-HU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17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Serverless</a:t>
            </a:r>
            <a:r>
              <a:rPr lang="hu-HU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(Frontend és Backend egyben fut)</a:t>
            </a:r>
            <a:br>
              <a:rPr lang="hu-HU" sz="18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dirty="0"/>
          </a:p>
          <a:p>
            <a:pPr>
              <a:spcBef>
                <a:spcPts val="0"/>
              </a:spcBef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dirty="0">
                <a:latin typeface="Cambria"/>
                <a:ea typeface="Cambria"/>
              </a:rPr>
              <a:t>Biztonság</a:t>
            </a:r>
            <a:r>
              <a:rPr lang="hu-HU" sz="1700" b="1" dirty="0"/>
              <a:t>:</a:t>
            </a:r>
            <a:r>
              <a:rPr lang="hu-HU" sz="1200" dirty="0"/>
              <a:t> </a:t>
            </a:r>
            <a:r>
              <a:rPr lang="hu-HU" sz="1700" dirty="0" err="1">
                <a:latin typeface="Times New Roman"/>
                <a:cs typeface="Times New Roman"/>
              </a:rPr>
              <a:t>Bcrypt</a:t>
            </a:r>
            <a:r>
              <a:rPr lang="hu-HU" sz="1700" dirty="0">
                <a:latin typeface="Times New Roman"/>
                <a:cs typeface="Times New Roman"/>
              </a:rPr>
              <a:t> jelszó titkosítás (</a:t>
            </a:r>
            <a:r>
              <a:rPr lang="hu-HU" sz="1700" dirty="0" err="1">
                <a:latin typeface="Times New Roman"/>
                <a:cs typeface="Times New Roman"/>
              </a:rPr>
              <a:t>hashing</a:t>
            </a:r>
            <a:r>
              <a:rPr lang="hu-HU" sz="1700" dirty="0">
                <a:latin typeface="Times New Roman"/>
                <a:cs typeface="Times New Roman"/>
              </a:rPr>
              <a:t>), </a:t>
            </a:r>
            <a:r>
              <a:rPr lang="hu-HU" sz="1700" dirty="0" err="1">
                <a:latin typeface="Times New Roman"/>
                <a:cs typeface="Times New Roman"/>
              </a:rPr>
              <a:t>NextAuth</a:t>
            </a:r>
            <a:r>
              <a:rPr lang="hu-HU" sz="1700" dirty="0">
                <a:latin typeface="Times New Roman"/>
                <a:cs typeface="Times New Roman"/>
              </a:rPr>
              <a:t> </a:t>
            </a:r>
            <a:r>
              <a:rPr lang="hu-HU" sz="1700" dirty="0" err="1">
                <a:latin typeface="Times New Roman"/>
                <a:cs typeface="Times New Roman"/>
              </a:rPr>
              <a:t>autentitikáció</a:t>
            </a:r>
            <a:r>
              <a:rPr lang="hu-HU" sz="1700" dirty="0">
                <a:latin typeface="Times New Roman"/>
                <a:cs typeface="Times New Roman"/>
              </a:rPr>
              <a:t> a szerveroldalon.</a:t>
            </a:r>
            <a:br>
              <a:rPr lang="hu-HU" sz="18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lang="hu-HU" sz="18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Bef>
                <a:spcPts val="0"/>
              </a:spcBef>
              <a:buClr>
                <a:srgbClr val="000000"/>
              </a:buClr>
              <a:buSzPts val="1800"/>
              <a:buFont typeface="Arial"/>
              <a:buChar char="•"/>
            </a:pPr>
            <a:endParaRPr lang="hu-HU" sz="1800" b="0" i="0" u="none" strike="noStrik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 descr="A képen szöveg, képernyőkép, Betűtípus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4B9F0288-B01B-EA3F-4A38-70202847484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84655" y="1692088"/>
            <a:ext cx="1846337" cy="4471148"/>
          </a:xfrm>
          <a:prstGeom prst="rect">
            <a:avLst/>
          </a:prstGeom>
          <a:ln w="38100">
            <a:solidFill>
              <a:srgbClr val="479FFF"/>
            </a:solidFill>
          </a:ln>
        </p:spPr>
      </p:pic>
      <p:pic>
        <p:nvPicPr>
          <p:cNvPr id="3" name="Kép 2" descr="next-auth - npm">
            <a:extLst>
              <a:ext uri="{FF2B5EF4-FFF2-40B4-BE49-F238E27FC236}">
                <a16:creationId xmlns:a16="http://schemas.microsoft.com/office/drawing/2014/main" id="{A58A0CD3-C597-F287-75BF-4A764CF8BDE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75930" y="3046581"/>
            <a:ext cx="1588994" cy="17621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 descr="A képen szöveg, képernyőkép, szoftver, Párhuzamos látható&#10;&#10;Lehet, hogy az AI által létrehozott tartalom helytelen.">
            <a:extLst>
              <a:ext uri="{FF2B5EF4-FFF2-40B4-BE49-F238E27FC236}">
                <a16:creationId xmlns:a16="http://schemas.microsoft.com/office/drawing/2014/main" id="{F45CFF41-FFF7-4D0B-8590-EB1F0C6940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3438" y="3355136"/>
            <a:ext cx="1505359" cy="1075765"/>
          </a:xfrm>
          <a:prstGeom prst="rect">
            <a:avLst/>
          </a:prstGeom>
        </p:spPr>
      </p:pic>
      <p:pic>
        <p:nvPicPr>
          <p:cNvPr id="6" name="Ábra 5">
            <a:extLst>
              <a:ext uri="{FF2B5EF4-FFF2-40B4-BE49-F238E27FC236}">
                <a16:creationId xmlns:a16="http://schemas.microsoft.com/office/drawing/2014/main" id="{73ECFB91-7812-4A18-90E2-BA536B7B0970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2282" y="3734601"/>
            <a:ext cx="3580045" cy="3691289"/>
          </a:xfrm>
          <a:prstGeom prst="rect">
            <a:avLst/>
          </a:prstGeom>
        </p:spPr>
      </p:pic>
      <p:sp>
        <p:nvSpPr>
          <p:cNvPr id="158" name="Google Shape;158;p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Adatbázis</a:t>
            </a: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 &amp; Relációs modell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9" name="Google Shape;159;p6"/>
          <p:cNvSpPr txBox="1">
            <a:spLocks noGrp="1"/>
          </p:cNvSpPr>
          <p:nvPr>
            <p:ph idx="1"/>
          </p:nvPr>
        </p:nvSpPr>
        <p:spPr>
          <a:xfrm>
            <a:off x="691669" y="1825625"/>
            <a:ext cx="4693024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Rendszer:</a:t>
            </a:r>
            <a:r>
              <a:rPr lang="hu-HU" sz="17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 </a:t>
            </a:r>
            <a:r>
              <a:rPr lang="hu-HU" sz="1800" dirty="0" err="1">
                <a:solidFill>
                  <a:srgbClr val="000000"/>
                </a:solidFill>
                <a:latin typeface="Times New Roman"/>
                <a:ea typeface="Cambria"/>
                <a:cs typeface="Times New Roman"/>
                <a:sym typeface="Arial"/>
              </a:rPr>
              <a:t>PostgreSQL</a:t>
            </a:r>
            <a:r>
              <a:rPr lang="hu-HU" sz="1800" b="0" i="0" u="none" strike="noStrike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 Relációs Adatbázis.</a:t>
            </a:r>
            <a:endParaRPr lang="hu-HU" sz="1800" dirty="0">
              <a:solidFill>
                <a:srgbClr val="000000"/>
              </a:solidFill>
              <a:latin typeface="Times New Roman"/>
              <a:ea typeface="Arial"/>
              <a:cs typeface="Times New Roman"/>
              <a:sym typeface="Arial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Integritás:</a:t>
            </a:r>
            <a:r>
              <a:rPr lang="hu-HU" sz="18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 </a:t>
            </a:r>
            <a:r>
              <a:rPr lang="hu-HU" sz="1700" dirty="0">
                <a:latin typeface="Times New Roman"/>
                <a:cs typeface="Times New Roman"/>
              </a:rPr>
              <a:t>Szigorú entitáskapcsolatok (Felhasználók ↔ Edzések és ételek).</a:t>
            </a:r>
            <a:br>
              <a:rPr lang="hu-HU" sz="1800" b="0" i="0" u="none" strike="noStrike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</a:br>
            <a:endParaRPr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Migrációk:</a:t>
            </a:r>
            <a:r>
              <a:rPr lang="hu-HU" sz="17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 </a:t>
            </a:r>
            <a:r>
              <a:rPr lang="hu-HU" sz="1700" dirty="0">
                <a:latin typeface="Times New Roman"/>
                <a:cs typeface="Times New Roman"/>
              </a:rPr>
              <a:t>Verziókezelt séma-menedzsment.</a:t>
            </a:r>
          </a:p>
        </p:txBody>
      </p:sp>
      <p:pic>
        <p:nvPicPr>
          <p:cNvPr id="3" name="Ábra 2">
            <a:extLst>
              <a:ext uri="{FF2B5EF4-FFF2-40B4-BE49-F238E27FC236}">
                <a16:creationId xmlns:a16="http://schemas.microsoft.com/office/drawing/2014/main" id="{31D62461-E30B-C42F-76B3-DE0B3A637E0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-1260000">
            <a:off x="1153798" y="4195483"/>
            <a:ext cx="2085109" cy="2142565"/>
          </a:xfrm>
          <a:prstGeom prst="rect">
            <a:avLst/>
          </a:prstGeom>
        </p:spPr>
      </p:pic>
      <p:pic>
        <p:nvPicPr>
          <p:cNvPr id="5" name="Kép 4" descr="A képen szöveg, képernyőkép, szoftver, képernyő látható&#10;&#10;Lehet, hogy az AI által létrehozott tartalom helytelen.">
            <a:extLst>
              <a:ext uri="{FF2B5EF4-FFF2-40B4-BE49-F238E27FC236}">
                <a16:creationId xmlns:a16="http://schemas.microsoft.com/office/drawing/2014/main" id="{6BEBF937-ED5D-4528-F0B7-7B563CF2C08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8522" y="2069447"/>
            <a:ext cx="5015193" cy="3660402"/>
          </a:xfrm>
          <a:prstGeom prst="rect">
            <a:avLst/>
          </a:prstGeom>
          <a:noFill/>
          <a:ln w="38100">
            <a:solidFill>
              <a:srgbClr val="479FFF"/>
            </a:solidFill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4">
            <a:extLst>
              <a:ext uri="{FF2B5EF4-FFF2-40B4-BE49-F238E27FC236}">
                <a16:creationId xmlns:a16="http://schemas.microsoft.com/office/drawing/2014/main" id="{5281C32E-F83F-42AB-B5E6-2314829D3C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2504" y="1343947"/>
            <a:ext cx="1079348" cy="1065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Ábra 4">
            <a:extLst>
              <a:ext uri="{FF2B5EF4-FFF2-40B4-BE49-F238E27FC236}">
                <a16:creationId xmlns:a16="http://schemas.microsoft.com/office/drawing/2014/main" id="{54C7724D-9E7E-4A1E-A936-B2C747D3217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2282" y="3734601"/>
            <a:ext cx="3580045" cy="3691289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07943E9D-25E3-4D16-A937-0891A2C90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8422341" cy="1325563"/>
          </a:xfrm>
        </p:spPr>
        <p:txBody>
          <a:bodyPr>
            <a:normAutofit/>
          </a:bodyPr>
          <a:lstStyle/>
          <a:p>
            <a:r>
              <a:rPr lang="hu-HU" dirty="0">
                <a:latin typeface="Cambria"/>
                <a:ea typeface="Cambria"/>
              </a:rPr>
              <a:t>Adatbázis struktúra</a:t>
            </a:r>
            <a:endParaRPr lang="hu-HU" dirty="0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103B5E87-E4BB-4858-8BB8-E9198B69613B}"/>
              </a:ext>
            </a:extLst>
          </p:cNvPr>
          <p:cNvSpPr txBox="1"/>
          <p:nvPr/>
        </p:nvSpPr>
        <p:spPr>
          <a:xfrm>
            <a:off x="838200" y="2062226"/>
            <a:ext cx="4083423" cy="166199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hu-HU" sz="1700" b="1" dirty="0">
                <a:latin typeface="Cambria"/>
                <a:ea typeface="Cambria"/>
                <a:cs typeface="Times New Roman"/>
              </a:rPr>
              <a:t>Relációs séma:</a:t>
            </a:r>
            <a:r>
              <a:rPr lang="hu-HU" sz="1700" dirty="0">
                <a:latin typeface="Cambria"/>
                <a:ea typeface="Cambria"/>
                <a:cs typeface="Times New Roman"/>
              </a:rPr>
              <a:t> </a:t>
            </a:r>
            <a:r>
              <a:rPr lang="hu-HU" sz="1700" dirty="0">
                <a:latin typeface="Times New Roman"/>
                <a:cs typeface="Times New Roman"/>
              </a:rPr>
              <a:t>12 normalizált táblából álló komplex rendszer.</a:t>
            </a:r>
            <a:br>
              <a:rPr lang="hu-HU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hu-HU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hu-HU" sz="1700" b="1" dirty="0">
                <a:latin typeface="Cambria"/>
                <a:ea typeface="Cambria"/>
                <a:cs typeface="Times New Roman"/>
              </a:rPr>
              <a:t>Adatintegritás:</a:t>
            </a:r>
            <a:r>
              <a:rPr lang="hu-HU" sz="1700" dirty="0">
                <a:latin typeface="Times New Roman"/>
                <a:cs typeface="Times New Roman"/>
              </a:rPr>
              <a:t> Elsődleges és idegen kulcsok (</a:t>
            </a:r>
            <a:r>
              <a:rPr lang="hu-HU" sz="1700" dirty="0" err="1">
                <a:latin typeface="Times New Roman"/>
                <a:cs typeface="Times New Roman"/>
              </a:rPr>
              <a:t>Primary</a:t>
            </a:r>
            <a:r>
              <a:rPr lang="hu-HU" sz="1700" dirty="0">
                <a:latin typeface="Times New Roman"/>
                <a:cs typeface="Times New Roman"/>
              </a:rPr>
              <a:t> &amp; </a:t>
            </a:r>
            <a:r>
              <a:rPr lang="hu-HU" sz="1700" dirty="0" err="1">
                <a:latin typeface="Times New Roman"/>
                <a:cs typeface="Times New Roman"/>
              </a:rPr>
              <a:t>Foreign</a:t>
            </a:r>
            <a:r>
              <a:rPr lang="hu-HU" sz="1700" dirty="0">
                <a:latin typeface="Times New Roman"/>
                <a:cs typeface="Times New Roman"/>
              </a:rPr>
              <a:t> </a:t>
            </a:r>
            <a:r>
              <a:rPr lang="hu-HU" sz="1700" dirty="0" err="1">
                <a:latin typeface="Times New Roman"/>
                <a:cs typeface="Times New Roman"/>
              </a:rPr>
              <a:t>keys</a:t>
            </a:r>
            <a:r>
              <a:rPr lang="hu-HU" sz="1700" dirty="0">
                <a:latin typeface="Times New Roman"/>
                <a:cs typeface="Times New Roman"/>
              </a:rPr>
              <a:t>) szigorú használata.</a:t>
            </a:r>
          </a:p>
        </p:txBody>
      </p:sp>
      <p:pic>
        <p:nvPicPr>
          <p:cNvPr id="3" name="Kép 2" descr="A képen szöveg, képernyőkép, szoftver, Párhuzamos látható&#10;&#10;Lehet, hogy az AI által létrehozott tartalom helytelen.">
            <a:extLst>
              <a:ext uri="{FF2B5EF4-FFF2-40B4-BE49-F238E27FC236}">
                <a16:creationId xmlns:a16="http://schemas.microsoft.com/office/drawing/2014/main" id="{562CD7A0-0F6A-2B25-E484-80EFA8F43D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0954" y="1434353"/>
            <a:ext cx="6695711" cy="4784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5845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4">
            <a:extLst>
              <a:ext uri="{FF2B5EF4-FFF2-40B4-BE49-F238E27FC236}">
                <a16:creationId xmlns:a16="http://schemas.microsoft.com/office/drawing/2014/main" id="{3C609842-46ED-49ED-9827-3DE21B9702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8854" y="2691478"/>
            <a:ext cx="1814793" cy="18147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Jest Logo PNG Transparent &amp; SVG Vector - Freebie Supply">
            <a:extLst>
              <a:ext uri="{FF2B5EF4-FFF2-40B4-BE49-F238E27FC236}">
                <a16:creationId xmlns:a16="http://schemas.microsoft.com/office/drawing/2014/main" id="{A3339BCB-EC1B-4DE6-ADDE-246F9CCDB6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9675" y="3429000"/>
            <a:ext cx="2112497" cy="15843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Ábra 5">
            <a:extLst>
              <a:ext uri="{FF2B5EF4-FFF2-40B4-BE49-F238E27FC236}">
                <a16:creationId xmlns:a16="http://schemas.microsoft.com/office/drawing/2014/main" id="{CE4068B4-0B37-4F2C-9C84-01211241ADC8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2282" y="3734601"/>
            <a:ext cx="3580045" cy="3691289"/>
          </a:xfrm>
          <a:prstGeom prst="rect">
            <a:avLst/>
          </a:prstGeom>
        </p:spPr>
      </p:pic>
      <p:sp>
        <p:nvSpPr>
          <p:cNvPr id="164" name="Google Shape;164;p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Frontend: </a:t>
            </a:r>
            <a:r>
              <a:rPr lang="hu-HU" dirty="0">
                <a:latin typeface="Cambria" panose="02040503050406030204" pitchFamily="18" charset="0"/>
                <a:ea typeface="Cambria" panose="02040503050406030204" pitchFamily="18" charset="0"/>
              </a:rPr>
              <a:t>Felhasználói felület és élmény (UI &amp; UX)</a:t>
            </a:r>
            <a:endParaRPr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sp>
        <p:nvSpPr>
          <p:cNvPr id="165" name="Google Shape;165;p7"/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4181475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Times New Roman"/>
                <a:sym typeface="Arial"/>
              </a:rPr>
              <a:t>Könyvtár:</a:t>
            </a:r>
            <a:r>
              <a:rPr lang="hu-HU" sz="18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 </a:t>
            </a:r>
            <a:r>
              <a:rPr lang="hu-HU" sz="1800" b="0" i="0" u="none" strike="noStrike" dirty="0" err="1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Tailwind</a:t>
            </a:r>
            <a:r>
              <a:rPr lang="hu-HU" sz="1800" b="0" i="0" u="none" strike="noStrike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 CSS.</a:t>
            </a:r>
            <a:br>
              <a:rPr lang="hu-HU" sz="1800" b="0" i="0" u="none" strike="noStrike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</a:b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Ikonok:</a:t>
            </a:r>
            <a:r>
              <a:rPr lang="hu-HU" sz="17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 </a:t>
            </a:r>
            <a:r>
              <a:rPr lang="hu-HU" sz="1800" dirty="0" err="1">
                <a:solidFill>
                  <a:srgbClr val="000000"/>
                </a:solidFill>
                <a:latin typeface="Times New Roman"/>
                <a:ea typeface="Cambria"/>
                <a:cs typeface="Times New Roman"/>
                <a:sym typeface="Arial"/>
              </a:rPr>
              <a:t>HeroIcons</a:t>
            </a:r>
            <a:r>
              <a:rPr lang="hu-HU" sz="1800" dirty="0">
                <a:solidFill>
                  <a:srgbClr val="000000"/>
                </a:solidFill>
                <a:latin typeface="Times New Roman"/>
                <a:ea typeface="Cambria"/>
                <a:cs typeface="Times New Roman"/>
                <a:sym typeface="Arial"/>
              </a:rPr>
              <a:t> </a:t>
            </a:r>
            <a:r>
              <a:rPr lang="hu-HU" sz="1800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a konzisztens megjelenéséért</a:t>
            </a:r>
            <a:r>
              <a:rPr lang="hu-HU" sz="1800" b="0" i="0" u="none" strike="noStrike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.</a:t>
            </a:r>
            <a:br>
              <a:rPr lang="hu-HU" sz="1800" b="0" i="0" u="none" strike="noStrike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</a:b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800" b="1" dirty="0" err="1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/>
                <a:sym typeface="Arial"/>
              </a:rPr>
              <a:t>Reszponzivitás</a:t>
            </a:r>
            <a:r>
              <a:rPr lang="hu-HU" sz="1800" b="1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/>
                <a:sym typeface="Arial"/>
              </a:rPr>
              <a:t>: </a:t>
            </a:r>
            <a:r>
              <a:rPr lang="hu-HU" sz="1700" dirty="0">
                <a:solidFill>
                  <a:srgbClr val="000000"/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Mo</a:t>
            </a:r>
            <a:r>
              <a:rPr lang="hu-HU" sz="18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dernizált felhasználói felület, különböző képernyő méretekre.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endParaRPr lang="hu-HU" sz="18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8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Nyelv</a:t>
            </a:r>
            <a:r>
              <a:rPr lang="hu-HU" sz="18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: </a:t>
            </a:r>
            <a:r>
              <a:rPr lang="hu-HU" sz="18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Typescript</a:t>
            </a:r>
            <a:endParaRPr lang="hu-HU" sz="18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</p:txBody>
      </p:sp>
      <p:pic>
        <p:nvPicPr>
          <p:cNvPr id="2" name="Kép 1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401289C8-B594-CFD0-84BE-BBA3D9DCCBD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7301" y="2285720"/>
            <a:ext cx="6057340" cy="2645149"/>
          </a:xfrm>
          <a:prstGeom prst="rect">
            <a:avLst/>
          </a:prstGeom>
          <a:ln w="38100">
            <a:solidFill>
              <a:srgbClr val="479FFF"/>
            </a:solidFill>
          </a:ln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5C7DACE5-42A8-41D1-A7C4-58EE7D5A41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5848" y="4506271"/>
            <a:ext cx="2158695" cy="213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Ábra 5">
            <a:extLst>
              <a:ext uri="{FF2B5EF4-FFF2-40B4-BE49-F238E27FC236}">
                <a16:creationId xmlns:a16="http://schemas.microsoft.com/office/drawing/2014/main" id="{50F6E4D0-A2B2-4105-8BF1-C12B12ED690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2282" y="3734601"/>
            <a:ext cx="3580045" cy="3691289"/>
          </a:xfrm>
          <a:prstGeom prst="rect">
            <a:avLst/>
          </a:prstGeom>
        </p:spPr>
      </p:pic>
      <p:sp>
        <p:nvSpPr>
          <p:cNvPr id="170" name="Google Shape;170;p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Minőségbiztosítás (Tesztelési stratégia</a:t>
            </a: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)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71" name="Google Shape;171;p8"/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4848225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Times New Roman"/>
                <a:sym typeface="Arial"/>
              </a:rPr>
              <a:t>Backend Tesztelés:</a:t>
            </a:r>
            <a:r>
              <a:rPr lang="hu-HU" sz="17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Times New Roman"/>
                <a:sym typeface="Arial"/>
              </a:rPr>
              <a:t> </a:t>
            </a:r>
            <a:r>
              <a:rPr lang="hu-HU" sz="1700" dirty="0" err="1">
                <a:solidFill>
                  <a:srgbClr val="000000"/>
                </a:solidFill>
                <a:latin typeface="Cambria"/>
                <a:ea typeface="Cambria"/>
                <a:cs typeface="Times New Roman"/>
                <a:sym typeface="Arial"/>
              </a:rPr>
              <a:t>Jest</a:t>
            </a:r>
            <a:endParaRPr lang="hu-HU" sz="1700" dirty="0">
              <a:latin typeface="Cambria"/>
              <a:ea typeface="Cambria"/>
              <a:cs typeface="Times New Roman"/>
            </a:endParaRPr>
          </a:p>
          <a:p>
            <a:pPr>
              <a:spcBef>
                <a:spcPts val="0"/>
              </a:spcBef>
              <a:buClr>
                <a:srgbClr val="000000"/>
              </a:buClr>
              <a:buSzPts val="1800"/>
              <a:buFont typeface="Arial"/>
              <a:buChar char="•"/>
            </a:pPr>
            <a:endParaRPr lang="hu-HU" sz="1700" dirty="0">
              <a:solidFill>
                <a:srgbClr val="000000"/>
              </a:solidFill>
              <a:latin typeface="Cambria"/>
              <a:ea typeface="Cambria"/>
              <a:cs typeface="Times New Roman"/>
              <a:sym typeface="Arial"/>
            </a:endParaRPr>
          </a:p>
          <a:p>
            <a:pPr>
              <a:spcBef>
                <a:spcPts val="0"/>
              </a:spcBef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Times New Roman"/>
                <a:sym typeface="Arial"/>
              </a:rPr>
              <a:t>Frontend Tesztelés:</a:t>
            </a:r>
            <a:r>
              <a:rPr lang="hu-HU" sz="17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Times New Roman"/>
                <a:sym typeface="Arial"/>
              </a:rPr>
              <a:t> </a:t>
            </a:r>
            <a:r>
              <a:rPr lang="hu-HU" sz="1700" dirty="0">
                <a:solidFill>
                  <a:srgbClr val="000000"/>
                </a:solidFill>
                <a:latin typeface="Times New Roman"/>
                <a:ea typeface="Cambria"/>
                <a:cs typeface="Times New Roman"/>
                <a:sym typeface="Arial"/>
              </a:rPr>
              <a:t>RobotFramework</a:t>
            </a:r>
            <a:endParaRPr lang="hu-HU" sz="1700" b="0" i="0" u="none" strike="noStrike" dirty="0">
              <a:solidFill>
                <a:srgbClr val="000000"/>
              </a:solidFill>
              <a:latin typeface="Times New Roman" panose="02020603050405020304" pitchFamily="18" charset="0"/>
              <a:ea typeface="Cambria"/>
              <a:cs typeface="Times New Roman" panose="02020603050405020304" pitchFamily="18" charset="0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endParaRPr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Cél</a:t>
            </a:r>
            <a:r>
              <a:rPr lang="hu-HU" sz="1700" b="1" i="0" u="none" strike="noStrike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:</a:t>
            </a:r>
            <a:r>
              <a:rPr lang="hu-HU" sz="1700" b="0" i="0" u="none" strike="noStrike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 </a:t>
            </a:r>
            <a:r>
              <a:rPr lang="hu-HU" sz="1700" b="0" i="0" u="none" strike="noStrike" dirty="0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Ellenőrzött adatforgalom és hibamentes kritikus útvonalak.</a:t>
            </a:r>
            <a:endParaRPr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Kép 1" descr="A képen szöveg, képernyőkép látható&#10;&#10;Lehet, hogy az AI által létrehozott tartalom helytelen.">
            <a:extLst>
              <a:ext uri="{FF2B5EF4-FFF2-40B4-BE49-F238E27FC236}">
                <a16:creationId xmlns:a16="http://schemas.microsoft.com/office/drawing/2014/main" id="{25EFA4D6-020C-2244-9FEB-852C45CDFB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264" y="1546972"/>
            <a:ext cx="4438091" cy="2744321"/>
          </a:xfrm>
          <a:prstGeom prst="rect">
            <a:avLst/>
          </a:prstGeom>
          <a:ln w="38100">
            <a:solidFill>
              <a:srgbClr val="479FFF"/>
            </a:solidFill>
          </a:ln>
        </p:spPr>
      </p:pic>
      <p:pic>
        <p:nvPicPr>
          <p:cNvPr id="3" name="Kép 2" descr="A képen szöveg, képernyőkép látható&#10;&#10;Lehet, hogy az AI által létrehozott tartalom helytelen.">
            <a:extLst>
              <a:ext uri="{FF2B5EF4-FFF2-40B4-BE49-F238E27FC236}">
                <a16:creationId xmlns:a16="http://schemas.microsoft.com/office/drawing/2014/main" id="{64272094-1702-8443-BCC2-444B4A28DA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74776" y="3759853"/>
            <a:ext cx="4977653" cy="2868146"/>
          </a:xfrm>
          <a:prstGeom prst="rect">
            <a:avLst/>
          </a:prstGeom>
          <a:ln w="38100">
            <a:solidFill>
              <a:srgbClr val="479FFF"/>
            </a:solidFill>
          </a:ln>
        </p:spPr>
      </p:pic>
      <p:pic>
        <p:nvPicPr>
          <p:cNvPr id="1026" name="Picture 2" descr="Jest Logo PNG Transparent &amp; SVG Vector - Freebie Supply">
            <a:extLst>
              <a:ext uri="{FF2B5EF4-FFF2-40B4-BE49-F238E27FC236}">
                <a16:creationId xmlns:a16="http://schemas.microsoft.com/office/drawing/2014/main" id="{E5689836-6CED-453B-AAEE-522CC51613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0702" y="5217053"/>
            <a:ext cx="2112497" cy="15843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1E895D8D-18D3-4A01-85EF-53394A8C1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2958" y="3765452"/>
            <a:ext cx="1814793" cy="18147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Ábra 4">
            <a:extLst>
              <a:ext uri="{FF2B5EF4-FFF2-40B4-BE49-F238E27FC236}">
                <a16:creationId xmlns:a16="http://schemas.microsoft.com/office/drawing/2014/main" id="{8ECF2034-D1A3-48B5-9E77-062129C0980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2282" y="3734601"/>
            <a:ext cx="3580045" cy="3691289"/>
          </a:xfrm>
          <a:prstGeom prst="rect">
            <a:avLst/>
          </a:prstGeom>
        </p:spPr>
      </p:pic>
      <p:sp>
        <p:nvSpPr>
          <p:cNvPr id="182" name="Google Shape;182;p1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9. Demó és Kérdések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83" name="Google Shape;183;p10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indent="0" algn="ctr">
              <a:spcBef>
                <a:spcPts val="0"/>
              </a:spcBef>
              <a:buClr>
                <a:srgbClr val="000000"/>
              </a:buClr>
              <a:buSzPts val="1800"/>
              <a:buNone/>
            </a:pPr>
            <a:r>
              <a:rPr lang="hu-HU" sz="18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br>
              <a:rPr lang="hu-HU" sz="18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hu-HU" b="0" i="0" u="none" strike="noStrike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Videós </a:t>
            </a:r>
            <a:r>
              <a:rPr lang="hu-HU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bemutató a </a:t>
            </a:r>
            <a:r>
              <a:rPr lang="hu-HU" dirty="0" err="1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Corelytics</a:t>
            </a:r>
            <a:r>
              <a:rPr lang="hu-HU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 platformról!</a:t>
            </a:r>
            <a:endParaRPr dirty="0">
              <a:latin typeface="Times New Roman"/>
              <a:cs typeface="Times New Roman"/>
            </a:endParaRPr>
          </a:p>
        </p:txBody>
      </p:sp>
      <p:sp>
        <p:nvSpPr>
          <p:cNvPr id="2" name="Téglalap 1">
            <a:extLst>
              <a:ext uri="{FF2B5EF4-FFF2-40B4-BE49-F238E27FC236}">
                <a16:creationId xmlns:a16="http://schemas.microsoft.com/office/drawing/2014/main" id="{24975BF4-4376-4525-A177-137C4065BBFE}"/>
              </a:ext>
            </a:extLst>
          </p:cNvPr>
          <p:cNvSpPr/>
          <p:nvPr/>
        </p:nvSpPr>
        <p:spPr>
          <a:xfrm>
            <a:off x="1713295" y="2764857"/>
            <a:ext cx="9057373" cy="33279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hu-HU" dirty="0">
                <a:ea typeface="Calibri"/>
                <a:cs typeface="Calibri"/>
              </a:rPr>
              <a:t>Ide a video</a:t>
            </a:r>
            <a:endParaRPr lang="hu-HU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Ábra 3">
            <a:extLst>
              <a:ext uri="{FF2B5EF4-FFF2-40B4-BE49-F238E27FC236}">
                <a16:creationId xmlns:a16="http://schemas.microsoft.com/office/drawing/2014/main" id="{C831D527-A21E-47C5-87E1-36E51285508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8600" y="1219200"/>
            <a:ext cx="4286407" cy="441960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069B1655-DFB8-49C4-893B-E7BB44F34CD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Köszönjük a figyelmet!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BB9A9ECB-30B0-4388-BB0F-C481F339C9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1128881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291</Words>
  <Application>Microsoft Office PowerPoint</Application>
  <PresentationFormat>Szélesvásznú</PresentationFormat>
  <Paragraphs>64</Paragraphs>
  <Slides>12</Slides>
  <Notes>10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12</vt:i4>
      </vt:variant>
    </vt:vector>
  </HeadingPairs>
  <TitlesOfParts>
    <vt:vector size="18" baseType="lpstr">
      <vt:lpstr>Arial</vt:lpstr>
      <vt:lpstr>Calibri</vt:lpstr>
      <vt:lpstr>Calibri Light</vt:lpstr>
      <vt:lpstr>Cambria</vt:lpstr>
      <vt:lpstr>Times New Roman</vt:lpstr>
      <vt:lpstr>Office-téma</vt:lpstr>
      <vt:lpstr>PowerPoint-bemutató</vt:lpstr>
      <vt:lpstr>Bevezetés: Probléma és Megoldás</vt:lpstr>
      <vt:lpstr>Csapatmunka</vt:lpstr>
      <vt:lpstr>A program funkciói</vt:lpstr>
      <vt:lpstr>Rendszer felépítés </vt:lpstr>
      <vt:lpstr>Backend &amp; API Fejlesztés</vt:lpstr>
      <vt:lpstr>Adatbázis &amp; Relációs modell</vt:lpstr>
      <vt:lpstr>Adatbázis struktúra</vt:lpstr>
      <vt:lpstr>Frontend: Felhasználói felület és élmény (UI &amp; UX)</vt:lpstr>
      <vt:lpstr>Minőségbiztosítás (Tesztelési stratégia)</vt:lpstr>
      <vt:lpstr>9. Demó és Kérdések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Studify</dc:title>
  <dc:creator>Vadkerti-Tóth Ádám</dc:creator>
  <cp:lastModifiedBy>Mészáros Imre</cp:lastModifiedBy>
  <cp:revision>254</cp:revision>
  <dcterms:created xsi:type="dcterms:W3CDTF">2026-02-27T12:20:27Z</dcterms:created>
  <dcterms:modified xsi:type="dcterms:W3CDTF">2026-03-24T06:57:04Z</dcterms:modified>
</cp:coreProperties>
</file>