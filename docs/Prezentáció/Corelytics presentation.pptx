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7" r:id="rId9"/>
    <p:sldId id="262" r:id="rId10"/>
    <p:sldId id="263" r:id="rId11"/>
    <p:sldId id="265" r:id="rId12"/>
    <p:sldId id="266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jDdjNFoi+xjUiqIqv79dYRrq6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E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915D60-2A3D-43AC-8374-F7FA46C654D1}" v="897" dt="2026-03-05T18:27:12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FFD633-CC68-4114-96C3-00B29DE1F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CD84C5F-6AFD-40B6-B0B2-1EF05049D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D6F22F5-036D-4DC4-99EC-914A603C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557E485-67FA-4377-8693-DBD8C392F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6DC82B3-8CB9-49C8-A55C-3D3A1346E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0643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105664-6A55-42E3-9880-E790885E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D9E1C6-B8B6-4E81-B31E-3A93181A0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C27E3A6-3A8B-4DA5-BED7-5E1EBECE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88A4338-3ADC-438B-A5C2-43C2C8EC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B78FA53-65A4-46A4-BD02-A6108EC7B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333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FCC0F1-75AD-4A70-AF96-59A648568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DA8C35C-82E9-4512-BAAA-9AF7AE5CF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8A4F817-4FFE-46A8-B71A-057D0028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B35825E-A5DA-4B9E-AA19-671323D4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7923B71-473F-416C-B4AA-8B44609B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163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ACA8CE-048E-44D4-8E80-33AB60A6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066C06-8F01-49CF-A9E6-9628733873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1FB9950-A47D-4086-A756-605CD0684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655FEFC-96CA-47B9-9B3B-DB1E12CF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83E868C-DB03-4A7B-B1E9-F408BC8D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F63EB8D-CDE7-434A-86D4-C4917BDD3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768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E9ADBE-CCE1-41D3-85FD-EC971D2B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C4947FD-0FFE-4ED9-A73D-A0CD454BA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3C99556-B102-4A4D-B230-17126DAA0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44CB5EE-7F2D-439A-AE30-D9E1469B4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6425D20-434A-4083-A7FB-7D2A438A7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C35E17B-5254-40A7-8B56-95689B33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4D3A4F3-5D2D-4784-8AF4-EB1E1C1C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C0AA073-8AAD-4F10-A671-B0E90B6A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835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E8BCC7-ECE5-4C26-9E0D-846DE557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7093C0E-5961-4B87-8BE6-E909F99B8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7960C5B-8923-4D1A-9013-9AB7AC859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CA18BCB-03FD-42D6-9B8E-B904AEF3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721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B212F7B-91F9-4AE0-A40A-13757E9B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56DFB8D-8F6D-4E22-9860-112ECAC3C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391D877-3404-4F91-B52F-E6576FA0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977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5FEEA9-02C7-48BB-821C-623CBD02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0A706A-ECF8-4A0B-A972-7FFFFB813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271BDC0-4DC9-4566-91B8-DC4ACA404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2DF4440-49B2-40B6-9907-80F30AA3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05D3915-A22D-4292-81E2-CEFD63C6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034EA76-17B7-4B07-B408-5A043A7E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62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11699A-7462-44AD-9250-C35714C8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409D27E-FBC3-4DD4-8881-D326BE32DB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5739426-757B-44DC-B7E5-E89E0E7C3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3D3D529-EAB3-4B4D-8416-C9FE69EE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3E988AE-E90C-4A6A-8BD1-BB10D02E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9A06CB2-581C-470B-BD5C-373107505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29985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F5A298-72E2-49B4-A107-29A2D6A1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403EF94-8ABE-4726-BC0E-74EE2040F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7384933-A953-42CA-B377-E6C44241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593F175-13CB-445D-B430-A9556C60A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3B7381D-7B26-482B-A74F-07F8F3D32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85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8D4F315-29B1-42AC-BE3E-2097DEEA8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B672C6C-585E-4721-9ABC-FA2D641F9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57123F-41D0-45B4-A486-08502E3B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6B2070-DF67-4DA4-94BD-23237CF7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B7A9B4-5D13-4ED3-9E1A-C9B90582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675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068B159-6433-499E-B5FB-D371F0BB6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5B4F160-A0D5-46AE-85E4-69081CE48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A113D77-E7EE-41EC-8455-FB6034D506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B06C95C-98F0-414D-B8B2-02A1B605E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CA53C28-91FE-4DBC-9722-E9A52A15F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582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hyperlink" Target="mailto:titkarsag@szbi-pg.h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4568" y="694317"/>
            <a:ext cx="1187004" cy="11870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6832937" y="776275"/>
            <a:ext cx="4098863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⚲ 6100 Kiskunfélegyháza, Kossuth u. 24.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☏ +36 76 462 332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@ </a:t>
            </a:r>
            <a:r>
              <a:rPr lang="hu-HU" sz="1400" b="0" i="0" u="sng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titkarsag@szbi-pg.hu</a:t>
            </a:r>
            <a:endParaRPr sz="1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335742" y="830593"/>
            <a:ext cx="409886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Kiskunfélegyházi Szent Benedek PG Két Tanítási </a:t>
            </a:r>
            <a:r>
              <a:rPr lang="hu-HU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</a:t>
            </a:r>
            <a:r>
              <a:rPr lang="hu-HU" sz="18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yelvű Technikum és Kollégium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87;p1">
            <a:extLst>
              <a:ext uri="{FF2B5EF4-FFF2-40B4-BE49-F238E27FC236}">
                <a16:creationId xmlns:a16="http://schemas.microsoft.com/office/drawing/2014/main" id="{02D4799D-8EF7-41DA-B325-C367E9CE69CE}"/>
              </a:ext>
            </a:extLst>
          </p:cNvPr>
          <p:cNvSpPr txBox="1">
            <a:spLocks/>
          </p:cNvSpPr>
          <p:nvPr/>
        </p:nvSpPr>
        <p:spPr>
          <a:xfrm>
            <a:off x="3235430" y="4669846"/>
            <a:ext cx="572114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hu-HU" dirty="0">
                <a:latin typeface="Cambria"/>
                <a:ea typeface="Cambria"/>
              </a:rPr>
              <a:t>Készítették: </a:t>
            </a:r>
            <a:endParaRPr lang="hu-H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spcBef>
                <a:spcPts val="0"/>
              </a:spcBef>
            </a:pPr>
            <a:r>
              <a:rPr lang="hu-HU" dirty="0">
                <a:latin typeface="Cambria"/>
                <a:ea typeface="Cambria"/>
              </a:rPr>
              <a:t>Mészáros Imre, </a:t>
            </a:r>
            <a:r>
              <a:rPr lang="hu-HU" dirty="0" err="1">
                <a:latin typeface="Cambria"/>
                <a:ea typeface="Cambria"/>
              </a:rPr>
              <a:t>Gubek</a:t>
            </a:r>
            <a:r>
              <a:rPr lang="hu-HU" dirty="0">
                <a:latin typeface="Cambria"/>
                <a:ea typeface="Cambria"/>
              </a:rPr>
              <a:t>-Szabó Tamás</a:t>
            </a:r>
          </a:p>
        </p:txBody>
      </p:sp>
      <p:pic>
        <p:nvPicPr>
          <p:cNvPr id="4" name="Kép 3" descr="A képen Emberi arc, ruházat, személy, portré látható&#10;&#10;Lehet, hogy az AI által létrehozott tartalom helytelen.">
            <a:extLst>
              <a:ext uri="{FF2B5EF4-FFF2-40B4-BE49-F238E27FC236}">
                <a16:creationId xmlns:a16="http://schemas.microsoft.com/office/drawing/2014/main" id="{B91F6906-154E-394E-EBE2-897293079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9771" y="2039471"/>
            <a:ext cx="1738693" cy="25549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Kép 4" descr="A képen Emberi arc, ruházat, személy, nyakkendő látható&#10;&#10;Lehet, hogy az AI által létrehozott tartalom helytelen.">
            <a:extLst>
              <a:ext uri="{FF2B5EF4-FFF2-40B4-BE49-F238E27FC236}">
                <a16:creationId xmlns:a16="http://schemas.microsoft.com/office/drawing/2014/main" id="{09A1E59B-70A8-C93F-2EDA-D57F52213E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8213" y="2061883"/>
            <a:ext cx="1705075" cy="25325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Kép 5" descr="A képen Betűtípus, szimbólum, Grafika, embléma látható&#10;&#10;Lehet, hogy az AI által létrehozott tartalom helytelen.">
            <a:extLst>
              <a:ext uri="{FF2B5EF4-FFF2-40B4-BE49-F238E27FC236}">
                <a16:creationId xmlns:a16="http://schemas.microsoft.com/office/drawing/2014/main" id="{F9161672-0AC4-5C52-73C8-0072337FE0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860" y="2356317"/>
            <a:ext cx="4342279" cy="1932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1789" y="264493"/>
            <a:ext cx="1187004" cy="118700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dirty="0">
                <a:latin typeface="Cambria"/>
                <a:ea typeface="Cambria"/>
                <a:cs typeface="Cambria"/>
                <a:sym typeface="Cambria"/>
              </a:rPr>
              <a:t>Bevezetés</a:t>
            </a: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: Probléma és Megoldás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idx="1"/>
          </p:nvPr>
        </p:nvSpPr>
        <p:spPr>
          <a:xfrm>
            <a:off x="1587000" y="1845373"/>
            <a:ext cx="9056350" cy="10906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700" b="1" dirty="0">
                <a:latin typeface="Times New Roman"/>
                <a:ea typeface="Times New Roman"/>
                <a:cs typeface="Times New Roman"/>
                <a:sym typeface="Times New Roman"/>
              </a:rPr>
              <a:t>Projekt név:</a:t>
            </a:r>
            <a:r>
              <a:rPr lang="hu-HU" sz="17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hu-HU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Studify</a:t>
            </a:r>
            <a:endParaRPr lang="hu-HU"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700" b="1" dirty="0">
                <a:latin typeface="Times New Roman"/>
                <a:ea typeface="Times New Roman"/>
                <a:cs typeface="Times New Roman"/>
                <a:sym typeface="Times New Roman"/>
              </a:rPr>
              <a:t>Cél:</a:t>
            </a:r>
            <a:r>
              <a:rPr lang="hu-HU" sz="17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hu-HU" sz="1700" dirty="0">
                <a:latin typeface="Cambria" panose="02040503050406030204" pitchFamily="18" charset="0"/>
                <a:ea typeface="Cambria" panose="02040503050406030204" pitchFamily="18" charset="0"/>
              </a:rPr>
              <a:t>A tanárok és diákok közötti együttműködés egyszerűsítése az átláthatóság és az azonnali visszajelzés révén.</a:t>
            </a:r>
            <a:endParaRPr lang="hu-HU" sz="1700" dirty="0">
              <a:latin typeface="Cambria" panose="02040503050406030204" pitchFamily="18" charset="0"/>
              <a:ea typeface="Cambria" panose="02040503050406030204" pitchFamily="18" charset="0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587000" y="1869025"/>
            <a:ext cx="4509000" cy="43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096000" y="1869025"/>
            <a:ext cx="4509000" cy="4309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586950" y="3366075"/>
            <a:ext cx="4509000" cy="2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algn="ctr">
              <a:lnSpc>
                <a:spcPct val="90000"/>
              </a:lnSpc>
            </a:pPr>
            <a:r>
              <a:rPr lang="hu-HU" sz="17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Probléma</a:t>
            </a:r>
            <a:b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hu-HU" sz="1700" b="1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Különböző naplózási alkalmazások, hiányzó vagy túlkomplikált funkciókkal.</a:t>
            </a:r>
          </a:p>
        </p:txBody>
      </p:sp>
      <p:sp>
        <p:nvSpPr>
          <p:cNvPr id="103" name="Google Shape;103;p2"/>
          <p:cNvSpPr/>
          <p:nvPr/>
        </p:nvSpPr>
        <p:spPr>
          <a:xfrm>
            <a:off x="1583400" y="1804321"/>
            <a:ext cx="9021600" cy="1048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Projekt név:</a:t>
            </a:r>
            <a:r>
              <a:rPr lang="hu-HU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hu-HU" dirty="0" err="1">
                <a:latin typeface="Times New Roman"/>
                <a:ea typeface="Times New Roman"/>
                <a:cs typeface="Times New Roman"/>
                <a:sym typeface="Times New Roman"/>
              </a:rPr>
              <a:t>Corelytics</a:t>
            </a:r>
            <a:endParaRPr lang="hu-HU" sz="1800">
              <a:latin typeface="Times New Roman"/>
              <a:ea typeface="Times New Roman"/>
              <a:cs typeface="Times New Roman"/>
            </a:endParaRPr>
          </a:p>
          <a:p>
            <a:pPr marL="228600" algn="ctr">
              <a:lnSpc>
                <a:spcPct val="90000"/>
              </a:lnSpc>
            </a:pPr>
            <a:r>
              <a:rPr lang="hu-HU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Cél:</a:t>
            </a:r>
            <a:r>
              <a:rPr lang="hu-HU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hu-HU" dirty="0">
                <a:latin typeface="Times New Roman"/>
                <a:ea typeface="Times New Roman"/>
                <a:cs typeface="Times New Roman"/>
                <a:sym typeface="Times New Roman"/>
              </a:rPr>
              <a:t>Az edzés és étel naplózása egy egységes, letisztult alkalmazásban.</a:t>
            </a:r>
            <a:endParaRPr lang="hu-HU" dirty="0">
              <a:latin typeface="Cambria"/>
              <a:ea typeface="Cambria"/>
              <a:cs typeface="Times New Roman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095950" y="3366175"/>
            <a:ext cx="4547400" cy="2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algn="ctr">
              <a:lnSpc>
                <a:spcPct val="90000"/>
              </a:lnSpc>
            </a:pPr>
            <a:r>
              <a:rPr lang="hu-HU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Megoldás</a:t>
            </a:r>
            <a:br>
              <a:rPr lang="hu-HU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hu-HU" sz="1700" b="1" dirty="0">
                <a:solidFill>
                  <a:schemeClr val="dk1"/>
                </a:solidFill>
                <a:latin typeface="Times New Roman"/>
                <a:ea typeface="Calibri"/>
                <a:cs typeface="Times New Roman"/>
              </a:rPr>
              <a:t>Egy egységes oldal a probléma megoldásra</a:t>
            </a:r>
            <a:endParaRPr lang="hu-HU" sz="1700" dirty="0">
              <a:solidFill>
                <a:schemeClr val="dk1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mbria"/>
              <a:buNone/>
            </a:pPr>
            <a:r>
              <a:rPr lang="hu-HU" sz="4400" i="0" u="none" strike="noStrik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Csapatmunka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9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4800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dirty="0">
                <a:solidFill>
                  <a:srgbClr val="0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Arial"/>
              </a:rPr>
              <a:t>Kommunikáció</a:t>
            </a:r>
            <a:r>
              <a:rPr lang="hu-HU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 Instagram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endParaRPr lang="hu-HU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dirty="0">
                <a:solidFill>
                  <a:srgbClr val="0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Arial"/>
              </a:rPr>
              <a:t>Megosztott munka</a:t>
            </a:r>
            <a:r>
              <a:rPr lang="hu-HU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 </a:t>
            </a:r>
            <a:r>
              <a:rPr lang="hu-HU" sz="17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Github</a:t>
            </a:r>
            <a:endParaRPr lang="hu-HU" sz="1700" dirty="0" err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endParaRPr lang="hu-HU" sz="17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Backend &amp; API</a:t>
            </a:r>
            <a:r>
              <a:rPr lang="hu-HU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 </a:t>
            </a:r>
            <a:r>
              <a:rPr lang="hu-HU" sz="17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Gubek</a:t>
            </a:r>
            <a:r>
              <a:rPr lang="hu-HU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-Szabó Tamás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endParaRPr lang="hu-HU" sz="17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Frontend &amp; Dokumentumok</a:t>
            </a:r>
            <a:r>
              <a:rPr lang="hu-HU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: </a:t>
            </a:r>
            <a:r>
              <a:rPr lang="hu-HU" sz="17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Mészáros Imre</a:t>
            </a:r>
            <a:endParaRPr lang="hu-HU" sz="17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AutoShape 2" descr="Github Logo - Free social media icons">
            <a:extLst>
              <a:ext uri="{FF2B5EF4-FFF2-40B4-BE49-F238E27FC236}">
                <a16:creationId xmlns:a16="http://schemas.microsoft.com/office/drawing/2014/main" id="{68C5950A-838F-42FC-94E0-5B877D1E74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4102" name="Picture 6" descr="Github logo - free Icon PNG, SVG">
            <a:extLst>
              <a:ext uri="{FF2B5EF4-FFF2-40B4-BE49-F238E27FC236}">
                <a16:creationId xmlns:a16="http://schemas.microsoft.com/office/drawing/2014/main" id="{3B63C3EF-C721-49AC-B027-3A2807265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657" y="3429000"/>
            <a:ext cx="2905125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Kép 1" descr="File:Instagram logo 2022.svg - Wikimedia Commons">
            <a:extLst>
              <a:ext uri="{FF2B5EF4-FFF2-40B4-BE49-F238E27FC236}">
                <a16:creationId xmlns:a16="http://schemas.microsoft.com/office/drawing/2014/main" id="{BEA08648-175A-E925-8FD7-EECDBA4F5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224" y="1822076"/>
            <a:ext cx="2171700" cy="2227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561974" y="3565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hu-HU" dirty="0">
                <a:latin typeface="Cambria"/>
                <a:ea typeface="Cambria"/>
              </a:rPr>
              <a:t>A program funkciói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3022" y="682028"/>
            <a:ext cx="1187004" cy="118700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rapezoid 5">
            <a:extLst>
              <a:ext uri="{FF2B5EF4-FFF2-40B4-BE49-F238E27FC236}">
                <a16:creationId xmlns:a16="http://schemas.microsoft.com/office/drawing/2014/main" id="{2B74B495-5BEF-20FE-44CA-E85D5BFB38F8}"/>
              </a:ext>
            </a:extLst>
          </p:cNvPr>
          <p:cNvSpPr/>
          <p:nvPr/>
        </p:nvSpPr>
        <p:spPr>
          <a:xfrm rot="10800000">
            <a:off x="1315265" y="5588931"/>
            <a:ext cx="1610924" cy="855053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84B0B8A9-3258-F2DA-32CD-FBB902FB4E8D}"/>
              </a:ext>
            </a:extLst>
          </p:cNvPr>
          <p:cNvSpPr/>
          <p:nvPr/>
        </p:nvSpPr>
        <p:spPr>
          <a:xfrm>
            <a:off x="9144032" y="2238218"/>
            <a:ext cx="1610924" cy="855053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F5BC83E1-1A69-7E1F-22E8-0003D25FEED5}"/>
              </a:ext>
            </a:extLst>
          </p:cNvPr>
          <p:cNvSpPr/>
          <p:nvPr/>
        </p:nvSpPr>
        <p:spPr>
          <a:xfrm>
            <a:off x="7290913" y="3094202"/>
            <a:ext cx="3461789" cy="24990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rgbClr val="FFFFFF"/>
                </a:solidFill>
                <a:ea typeface="Calibri"/>
                <a:cs typeface="Calibri"/>
              </a:rPr>
              <a:t>"CRUD" adattárolás</a:t>
            </a:r>
          </a:p>
          <a:p>
            <a:pPr algn="ctr"/>
            <a:r>
              <a:rPr lang="hu-HU" dirty="0">
                <a:solidFill>
                  <a:srgbClr val="FFFFFF"/>
                </a:solidFill>
                <a:ea typeface="Calibri"/>
                <a:cs typeface="Calibri"/>
              </a:rPr>
              <a:t>Moderátori felület</a:t>
            </a:r>
          </a:p>
          <a:p>
            <a:pPr algn="ctr"/>
            <a:r>
              <a:rPr lang="hu-HU">
                <a:solidFill>
                  <a:srgbClr val="FFFFFF"/>
                </a:solidFill>
                <a:ea typeface="Calibri"/>
                <a:cs typeface="Calibri"/>
              </a:rPr>
              <a:t>Naplózás szerkesztés</a:t>
            </a:r>
            <a:endParaRPr lang="hu-HU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hu-HU" dirty="0" err="1">
                <a:solidFill>
                  <a:srgbClr val="FFFFFF"/>
                </a:solidFill>
                <a:ea typeface="Calibri"/>
                <a:cs typeface="Calibri"/>
              </a:rPr>
              <a:t>Barcode</a:t>
            </a:r>
            <a:r>
              <a:rPr lang="hu-HU" dirty="0">
                <a:solidFill>
                  <a:srgbClr val="FFFFFF"/>
                </a:solidFill>
                <a:ea typeface="Calibri"/>
                <a:cs typeface="Calibri"/>
              </a:rPr>
              <a:t> olvasás</a:t>
            </a:r>
            <a:endParaRPr lang="hu-HU" dirty="0"/>
          </a:p>
          <a:p>
            <a:pPr algn="ctr"/>
            <a:endParaRPr lang="hu-HU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2184FC2F-4EEC-ACFC-1A3C-7AF5180F7340}"/>
              </a:ext>
            </a:extLst>
          </p:cNvPr>
          <p:cNvSpPr/>
          <p:nvPr/>
        </p:nvSpPr>
        <p:spPr>
          <a:xfrm>
            <a:off x="1320172" y="3083764"/>
            <a:ext cx="3461789" cy="24990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dirty="0">
                <a:ea typeface="Calibri"/>
                <a:cs typeface="Calibri"/>
              </a:rPr>
              <a:t>Regisztráció</a:t>
            </a:r>
            <a:endParaRPr lang="hu-HU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hu-HU" dirty="0">
                <a:ea typeface="Calibri"/>
                <a:cs typeface="Calibri"/>
              </a:rPr>
              <a:t>Bejelentkezés</a:t>
            </a:r>
            <a:endParaRPr lang="hu-HU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hu-HU" dirty="0">
                <a:ea typeface="Calibri"/>
                <a:cs typeface="Calibri"/>
              </a:rPr>
              <a:t>Étel naplózás</a:t>
            </a:r>
            <a:endParaRPr lang="hu-HU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hu-HU" dirty="0">
                <a:ea typeface="Calibri"/>
                <a:cs typeface="Calibri"/>
              </a:rPr>
              <a:t>Edzés naplózás</a:t>
            </a:r>
            <a:endParaRPr lang="hu-HU" dirty="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mbria"/>
              <a:buNone/>
            </a:pPr>
            <a:r>
              <a:rPr lang="hu-HU" sz="4400" i="0" u="none" strike="noStrik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Rendszer felépítés </a:t>
            </a:r>
            <a:br>
              <a:rPr lang="hu-HU" sz="4400" i="0" u="none" strike="noStrik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hu-HU" sz="4400" i="0" u="none" strike="noStrik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(Modern </a:t>
            </a:r>
            <a:r>
              <a:rPr lang="hu-HU" dirty="0" err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  <a:r>
              <a:rPr lang="hu-HU" sz="4400" i="0" u="none" strike="noStrik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3022" y="682028"/>
            <a:ext cx="1187004" cy="11870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278E5AC1-0F99-CC88-768D-854F87AB047F}"/>
              </a:ext>
            </a:extLst>
          </p:cNvPr>
          <p:cNvGrpSpPr/>
          <p:nvPr/>
        </p:nvGrpSpPr>
        <p:grpSpPr>
          <a:xfrm>
            <a:off x="4685782" y="2610485"/>
            <a:ext cx="2823601" cy="3072900"/>
            <a:chOff x="225841" y="1870897"/>
            <a:chExt cx="2823601" cy="3072900"/>
          </a:xfrm>
        </p:grpSpPr>
        <p:sp>
          <p:nvSpPr>
            <p:cNvPr id="136" name="Google Shape;136;p4"/>
            <p:cNvSpPr/>
            <p:nvPr/>
          </p:nvSpPr>
          <p:spPr>
            <a:xfrm>
              <a:off x="225841" y="1870897"/>
              <a:ext cx="2823600" cy="3072900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225842" y="2112994"/>
              <a:ext cx="2823600" cy="277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2900" b="1" i="1" dirty="0">
                  <a:solidFill>
                    <a:schemeClr val="lt1"/>
                  </a:solidFill>
                  <a:latin typeface="Cambria"/>
                  <a:ea typeface="Cambria"/>
                  <a:cs typeface="Cambria"/>
                  <a:sym typeface="Cambria"/>
                </a:rPr>
                <a:t>Framework</a:t>
              </a:r>
              <a:endParaRPr sz="2900" b="1" i="1" dirty="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9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700" b="1" dirty="0" err="1">
                  <a:solidFill>
                    <a:schemeClr val="lt1"/>
                  </a:solidFill>
                  <a:uFill>
                    <a:noFill/>
                  </a:uFill>
                  <a:latin typeface="Times New Roman"/>
                  <a:ea typeface="Calibri"/>
                  <a:cs typeface="Times New Roman"/>
                </a:rPr>
                <a:t>Next.Js</a:t>
              </a:r>
            </a:p>
          </p:txBody>
        </p:sp>
      </p:grp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14CB39FB-518F-A042-01B1-04C9BD77F21F}"/>
              </a:ext>
            </a:extLst>
          </p:cNvPr>
          <p:cNvGrpSpPr/>
          <p:nvPr/>
        </p:nvGrpSpPr>
        <p:grpSpPr>
          <a:xfrm>
            <a:off x="835797" y="3305251"/>
            <a:ext cx="2838937" cy="3072900"/>
            <a:chOff x="5788797" y="3462133"/>
            <a:chExt cx="2838937" cy="3072900"/>
          </a:xfrm>
        </p:grpSpPr>
        <p:sp>
          <p:nvSpPr>
            <p:cNvPr id="137" name="Google Shape;137;p4"/>
            <p:cNvSpPr/>
            <p:nvPr/>
          </p:nvSpPr>
          <p:spPr>
            <a:xfrm>
              <a:off x="5788797" y="3462133"/>
              <a:ext cx="2823600" cy="307290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5804134" y="3687429"/>
              <a:ext cx="2823600" cy="277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hu-HU" sz="2900" b="1" dirty="0">
                  <a:latin typeface="Cambria"/>
                  <a:ea typeface="Cambria"/>
                </a:rPr>
                <a:t>Futtatási környezet</a:t>
              </a:r>
              <a:endParaRPr lang="hu-HU" sz="2900" b="1" i="1">
                <a:solidFill>
                  <a:schemeClr val="dk1"/>
                </a:solidFill>
                <a:latin typeface="Cambria"/>
                <a:ea typeface="Cambria"/>
                <a:cs typeface="Cambria"/>
              </a:endParaRPr>
            </a:p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endParaRPr lang="hu-HU" sz="2900" b="1" dirty="0">
                <a:solidFill>
                  <a:schemeClr val="dk1"/>
                </a:solidFill>
                <a:latin typeface="Cambria"/>
                <a:ea typeface="Cambria"/>
                <a:cs typeface="Calibri"/>
              </a:endParaRPr>
            </a:p>
            <a:p>
              <a:pPr algn="ctr"/>
              <a:endParaRPr lang="hu-HU" sz="900" b="1" dirty="0">
                <a:solidFill>
                  <a:schemeClr val="dk1"/>
                </a:solidFill>
                <a:latin typeface="Cambria"/>
                <a:ea typeface="Cambria"/>
                <a:cs typeface="Calibri"/>
              </a:endParaRPr>
            </a:p>
            <a:p>
              <a:pPr algn="ctr"/>
              <a:r>
                <a:rPr lang="hu-HU" sz="17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</a:rPr>
                <a:t>Node.Js</a:t>
              </a:r>
            </a:p>
            <a:p>
              <a:pPr algn="ctr"/>
              <a:r>
                <a:rPr lang="hu-HU" sz="1700">
                  <a:solidFill>
                    <a:schemeClr val="dk1"/>
                  </a:solidFill>
                  <a:latin typeface="Calibri"/>
                  <a:ea typeface="Calibri"/>
                  <a:cs typeface="Calibri"/>
                </a:rPr>
                <a:t>Böngésző(Chrome, Firefox)</a:t>
              </a:r>
              <a:endParaRPr lang="hu-HU" sz="1700" dirty="0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  <a:p>
              <a:pPr algn="ctr"/>
              <a:r>
                <a:rPr lang="hu-HU" sz="1700" dirty="0">
                  <a:solidFill>
                    <a:schemeClr val="dk1"/>
                  </a:solidFill>
                  <a:latin typeface="Calibri"/>
                  <a:ea typeface="Calibri"/>
                  <a:cs typeface="Calibri"/>
                </a:rPr>
                <a:t>Android(</a:t>
              </a:r>
              <a:r>
                <a:rPr lang="hu-HU" sz="17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</a:rPr>
                <a:t>Capacitor</a:t>
              </a:r>
              <a:r>
                <a:rPr lang="hu-HU" sz="1700" dirty="0">
                  <a:solidFill>
                    <a:schemeClr val="dk1"/>
                  </a:solidFill>
                  <a:latin typeface="Calibri"/>
                  <a:ea typeface="Calibri"/>
                  <a:cs typeface="Calibri"/>
                </a:rPr>
                <a:t>)</a:t>
              </a:r>
            </a:p>
          </p:txBody>
        </p:sp>
      </p:grpSp>
      <p:grpSp>
        <p:nvGrpSpPr>
          <p:cNvPr id="5" name="Csoportba foglalás 4">
            <a:extLst>
              <a:ext uri="{FF2B5EF4-FFF2-40B4-BE49-F238E27FC236}">
                <a16:creationId xmlns:a16="http://schemas.microsoft.com/office/drawing/2014/main" id="{D803B43F-89DA-DC43-1212-F86041B749F7}"/>
              </a:ext>
            </a:extLst>
          </p:cNvPr>
          <p:cNvGrpSpPr/>
          <p:nvPr/>
        </p:nvGrpSpPr>
        <p:grpSpPr>
          <a:xfrm>
            <a:off x="8524913" y="3305251"/>
            <a:ext cx="2823600" cy="3072900"/>
            <a:chOff x="8849884" y="2453604"/>
            <a:chExt cx="2823600" cy="3072900"/>
          </a:xfrm>
        </p:grpSpPr>
        <p:sp>
          <p:nvSpPr>
            <p:cNvPr id="138" name="Google Shape;138;p4"/>
            <p:cNvSpPr/>
            <p:nvPr/>
          </p:nvSpPr>
          <p:spPr>
            <a:xfrm>
              <a:off x="8849884" y="2453604"/>
              <a:ext cx="2823600" cy="307290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8849884" y="2608858"/>
              <a:ext cx="2823600" cy="277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2900" b="1" i="1" dirty="0">
                  <a:solidFill>
                    <a:schemeClr val="dk1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  <a:sym typeface="Cambria"/>
                </a:rPr>
                <a:t>Adatbázis</a:t>
              </a:r>
              <a:endParaRPr sz="2900" b="1" i="1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Cambria"/>
              </a:endParaRPr>
            </a:p>
            <a:p>
              <a:r>
                <a:rPr lang="hu-HU" sz="17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 </a:t>
              </a:r>
            </a:p>
            <a:p>
              <a:pPr algn="ctr"/>
              <a:r>
                <a:rPr lang="hu-HU" sz="1700" dirty="0" err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PostrgeSQL</a:t>
              </a:r>
              <a:r>
                <a:rPr lang="hu-HU" sz="17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lang="hu-HU" sz="1700" dirty="0" err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rPr>
                <a:t>Prisma</a:t>
              </a:r>
              <a:endParaRPr sz="17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mbria"/>
              <a:buNone/>
            </a:pPr>
            <a:r>
              <a:rPr lang="hu-HU" sz="4400" i="0" u="none" strike="noStrik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Backend &amp; API Fejlesztés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3" name="Google Shape;153;p5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4621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dirty="0">
                <a:latin typeface="Cambria" panose="02040503050406030204" pitchFamily="18" charset="0"/>
                <a:ea typeface="Cambria" panose="02040503050406030204" pitchFamily="18" charset="0"/>
              </a:rPr>
              <a:t>Architektúra</a:t>
            </a:r>
            <a:r>
              <a:rPr lang="hu-H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hu-H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Rétegelt logika (Kontrollerek, Szolgáltatások, Adattárak).</a:t>
            </a:r>
            <a:br>
              <a:rPr lang="hu-HU" sz="18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  <a:p>
            <a:pPr>
              <a:spcBef>
                <a:spcPts val="0"/>
              </a:spcBef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dirty="0">
                <a:latin typeface="Cambria"/>
                <a:ea typeface="Cambria"/>
              </a:rPr>
              <a:t>Biztonság</a:t>
            </a:r>
            <a:r>
              <a:rPr lang="hu-HU" sz="1700" b="1" dirty="0"/>
              <a:t>:</a:t>
            </a:r>
            <a:r>
              <a:rPr lang="hu-HU" sz="1200" dirty="0"/>
              <a:t> </a:t>
            </a:r>
            <a:r>
              <a:rPr lang="hu-HU" sz="1700" dirty="0" err="1">
                <a:latin typeface="Times New Roman"/>
                <a:cs typeface="Times New Roman"/>
              </a:rPr>
              <a:t>Bcrypt</a:t>
            </a:r>
            <a:r>
              <a:rPr lang="hu-HU" sz="1700" dirty="0">
                <a:latin typeface="Times New Roman"/>
                <a:cs typeface="Times New Roman"/>
              </a:rPr>
              <a:t> jelszó titkosítás (</a:t>
            </a:r>
            <a:r>
              <a:rPr lang="hu-HU" sz="1700" dirty="0" err="1">
                <a:latin typeface="Times New Roman"/>
                <a:cs typeface="Times New Roman"/>
              </a:rPr>
              <a:t>hashing</a:t>
            </a:r>
            <a:r>
              <a:rPr lang="hu-HU" sz="1700" dirty="0">
                <a:latin typeface="Times New Roman"/>
                <a:cs typeface="Times New Roman"/>
              </a:rPr>
              <a:t>), </a:t>
            </a:r>
            <a:r>
              <a:rPr lang="hu-HU" sz="1700" dirty="0" err="1">
                <a:latin typeface="Times New Roman"/>
                <a:cs typeface="Times New Roman"/>
              </a:rPr>
              <a:t>NextAuth</a:t>
            </a:r>
            <a:r>
              <a:rPr lang="hu-HU" sz="1700" dirty="0">
                <a:latin typeface="Times New Roman"/>
                <a:cs typeface="Times New Roman"/>
              </a:rPr>
              <a:t> </a:t>
            </a:r>
            <a:r>
              <a:rPr lang="hu-HU" sz="1700" dirty="0" err="1">
                <a:latin typeface="Times New Roman"/>
                <a:cs typeface="Times New Roman"/>
              </a:rPr>
              <a:t>autentitikáció</a:t>
            </a:r>
            <a:r>
              <a:rPr lang="hu-HU" sz="1700" dirty="0">
                <a:latin typeface="Times New Roman"/>
                <a:cs typeface="Times New Roman"/>
              </a:rPr>
              <a:t>.</a:t>
            </a:r>
            <a:br>
              <a:rPr lang="hu-HU" sz="18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lang="hu-HU" sz="1800" b="0" i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dirty="0">
                <a:latin typeface="Cambria" panose="02040503050406030204" pitchFamily="18" charset="0"/>
                <a:ea typeface="Cambria" panose="02040503050406030204" pitchFamily="18" charset="0"/>
              </a:rPr>
              <a:t>Valós idő</a:t>
            </a:r>
            <a:r>
              <a:rPr lang="hu-HU" sz="1700" b="1" dirty="0"/>
              <a:t>:</a:t>
            </a:r>
            <a:r>
              <a:rPr lang="hu-HU" sz="1700" dirty="0"/>
              <a:t> </a:t>
            </a:r>
            <a:r>
              <a:rPr lang="hu-H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hu-H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r>
              <a:rPr lang="hu-H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 </a:t>
            </a:r>
            <a:r>
              <a:rPr lang="hu-H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eseményvezérelt</a:t>
            </a:r>
            <a:r>
              <a:rPr lang="hu-H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frissítésekhez.</a:t>
            </a:r>
            <a:endParaRPr lang="hu-HU" sz="1700" b="0" i="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endParaRPr lang="hu-HU" sz="1800" b="0" i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Kép 1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B9F0288-B01B-EA3F-4A38-702028474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655" y="1692088"/>
            <a:ext cx="1846337" cy="4471148"/>
          </a:xfrm>
          <a:prstGeom prst="rect">
            <a:avLst/>
          </a:prstGeom>
        </p:spPr>
      </p:pic>
      <p:pic>
        <p:nvPicPr>
          <p:cNvPr id="3" name="Kép 2" descr="next-auth - npm">
            <a:extLst>
              <a:ext uri="{FF2B5EF4-FFF2-40B4-BE49-F238E27FC236}">
                <a16:creationId xmlns:a16="http://schemas.microsoft.com/office/drawing/2014/main" id="{A58A0CD3-C597-F287-75BF-4A764CF8B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930" y="3046581"/>
            <a:ext cx="1588994" cy="17621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mbria"/>
              <a:buNone/>
            </a:pPr>
            <a:r>
              <a:rPr lang="hu-HU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Adatbázis</a:t>
            </a:r>
            <a:r>
              <a:rPr lang="hu-HU" sz="4400" i="0" u="none" strike="noStrik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&amp; Relációs modell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9" name="Google Shape;159;p6"/>
          <p:cNvSpPr txBox="1">
            <a:spLocks noGrp="1"/>
          </p:cNvSpPr>
          <p:nvPr>
            <p:ph idx="1"/>
          </p:nvPr>
        </p:nvSpPr>
        <p:spPr>
          <a:xfrm>
            <a:off x="691669" y="1825625"/>
            <a:ext cx="469302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i="0" u="none" strike="noStrike" dirty="0">
                <a:solidFill>
                  <a:srgbClr val="000000"/>
                </a:solidFill>
                <a:latin typeface="Cambria"/>
                <a:ea typeface="Cambria"/>
                <a:cs typeface="Arial"/>
                <a:sym typeface="Arial"/>
              </a:rPr>
              <a:t>Rendszer:</a:t>
            </a:r>
            <a:r>
              <a:rPr lang="hu-HU" sz="1700" b="0" i="0" u="none" strike="noStrike" dirty="0">
                <a:solidFill>
                  <a:srgbClr val="000000"/>
                </a:solidFill>
                <a:latin typeface="Cambria"/>
                <a:ea typeface="Cambria"/>
                <a:cs typeface="Arial"/>
                <a:sym typeface="Arial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Times New Roman"/>
                <a:ea typeface="Cambria"/>
                <a:cs typeface="Times New Roman"/>
                <a:sym typeface="Arial"/>
              </a:rPr>
              <a:t>PostgreSQL</a:t>
            </a:r>
            <a:r>
              <a:rPr lang="hu-HU" sz="1800" b="0" i="0" u="none" strike="noStrike" dirty="0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Arial"/>
              </a:rPr>
              <a:t> Relációs Adatbázis.</a:t>
            </a:r>
            <a:endParaRPr lang="hu-HU" sz="1800" dirty="0">
              <a:solidFill>
                <a:srgbClr val="000000"/>
              </a:solidFill>
              <a:latin typeface="Times New Roman"/>
              <a:ea typeface="Arial"/>
              <a:cs typeface="Times New Roman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i="0" u="none" strike="noStrike" dirty="0">
                <a:solidFill>
                  <a:srgbClr val="000000"/>
                </a:solidFill>
                <a:latin typeface="Cambria"/>
                <a:ea typeface="Cambria"/>
                <a:cs typeface="Arial"/>
                <a:sym typeface="Arial"/>
              </a:rPr>
              <a:t>Integritás:</a:t>
            </a:r>
            <a:r>
              <a:rPr lang="hu-HU" sz="1800" b="0" i="0" u="none" strike="noStrike" dirty="0">
                <a:solidFill>
                  <a:srgbClr val="000000"/>
                </a:solidFill>
                <a:latin typeface="Cambria"/>
                <a:ea typeface="Cambria"/>
                <a:cs typeface="Arial"/>
                <a:sym typeface="Arial"/>
              </a:rPr>
              <a:t> </a:t>
            </a:r>
            <a:r>
              <a:rPr lang="hu-HU" sz="1700" dirty="0">
                <a:latin typeface="Times New Roman"/>
                <a:cs typeface="Times New Roman"/>
              </a:rPr>
              <a:t>Szigorú entitáskapcsolatok (Felhasználók ↔ Edzések és ételek).</a:t>
            </a:r>
            <a:br>
              <a:rPr lang="hu-HU" sz="1800" b="0" i="0" u="none" strike="noStrike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i="0" u="none" strike="noStrike" dirty="0">
                <a:solidFill>
                  <a:srgbClr val="000000"/>
                </a:solidFill>
                <a:latin typeface="Cambria"/>
                <a:ea typeface="Cambria"/>
                <a:cs typeface="Arial"/>
                <a:sym typeface="Arial"/>
              </a:rPr>
              <a:t>Migrációk:</a:t>
            </a:r>
            <a:r>
              <a:rPr lang="hu-HU" sz="1700" b="0" i="0" u="none" strike="noStrike" dirty="0">
                <a:solidFill>
                  <a:srgbClr val="000000"/>
                </a:solidFill>
                <a:latin typeface="Cambria"/>
                <a:ea typeface="Cambria"/>
                <a:cs typeface="Arial"/>
                <a:sym typeface="Arial"/>
              </a:rPr>
              <a:t> </a:t>
            </a:r>
            <a:r>
              <a:rPr lang="hu-HU" sz="1700" dirty="0">
                <a:latin typeface="Times New Roman"/>
                <a:cs typeface="Times New Roman"/>
              </a:rPr>
              <a:t>Verziókezelt séma-menedzsment.</a:t>
            </a:r>
          </a:p>
        </p:txBody>
      </p:sp>
      <p:pic>
        <p:nvPicPr>
          <p:cNvPr id="3" name="Ábra 2">
            <a:extLst>
              <a:ext uri="{FF2B5EF4-FFF2-40B4-BE49-F238E27FC236}">
                <a16:creationId xmlns:a16="http://schemas.microsoft.com/office/drawing/2014/main" id="{31D62461-E30B-C42F-76B3-DE0B3A637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1260000">
            <a:off x="1153798" y="4195483"/>
            <a:ext cx="2085109" cy="2142565"/>
          </a:xfrm>
          <a:prstGeom prst="rect">
            <a:avLst/>
          </a:prstGeom>
        </p:spPr>
      </p:pic>
      <p:pic>
        <p:nvPicPr>
          <p:cNvPr id="5" name="Kép 4" descr="A képen szöveg, képernyőkép, szoftver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6BEBF937-ED5D-4528-F0B7-7B563CF2C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522" y="2069447"/>
            <a:ext cx="5015193" cy="36604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943E9D-25E3-4D16-A937-0891A2C90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8422341" cy="1325563"/>
          </a:xfrm>
        </p:spPr>
        <p:txBody>
          <a:bodyPr>
            <a:normAutofit/>
          </a:bodyPr>
          <a:lstStyle/>
          <a:p>
            <a:r>
              <a:rPr lang="hu-HU" dirty="0">
                <a:latin typeface="Cambria"/>
                <a:ea typeface="Cambria"/>
              </a:rPr>
              <a:t>Adatbázis struktúra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03B5E87-E4BB-4858-8BB8-E9198B69613B}"/>
              </a:ext>
            </a:extLst>
          </p:cNvPr>
          <p:cNvSpPr txBox="1"/>
          <p:nvPr/>
        </p:nvSpPr>
        <p:spPr>
          <a:xfrm>
            <a:off x="838200" y="2062226"/>
            <a:ext cx="4083423" cy="16619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u-HU" sz="1700" b="1" dirty="0">
                <a:latin typeface="Cambria"/>
                <a:ea typeface="Cambria"/>
                <a:cs typeface="Times New Roman"/>
              </a:rPr>
              <a:t>Relációs séma:</a:t>
            </a:r>
            <a:r>
              <a:rPr lang="hu-HU" sz="1700" dirty="0">
                <a:latin typeface="Cambria"/>
                <a:ea typeface="Cambria"/>
                <a:cs typeface="Times New Roman"/>
              </a:rPr>
              <a:t> </a:t>
            </a:r>
            <a:r>
              <a:rPr lang="hu-HU" sz="1700" dirty="0">
                <a:latin typeface="Times New Roman"/>
                <a:cs typeface="Times New Roman"/>
              </a:rPr>
              <a:t>12 normalizált táblából álló komplex rendszer.</a:t>
            </a:r>
            <a:br>
              <a:rPr lang="hu-H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hu-H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1700" b="1" dirty="0">
                <a:latin typeface="Cambria"/>
                <a:ea typeface="Cambria"/>
                <a:cs typeface="Times New Roman"/>
              </a:rPr>
              <a:t>Adatintegritás:</a:t>
            </a:r>
            <a:r>
              <a:rPr lang="hu-HU" sz="1700" dirty="0">
                <a:latin typeface="Times New Roman"/>
                <a:cs typeface="Times New Roman"/>
              </a:rPr>
              <a:t> Elsődleges és idegen kulcsok (</a:t>
            </a:r>
            <a:r>
              <a:rPr lang="hu-HU" sz="1700" dirty="0" err="1">
                <a:latin typeface="Times New Roman"/>
                <a:cs typeface="Times New Roman"/>
              </a:rPr>
              <a:t>Primary</a:t>
            </a:r>
            <a:r>
              <a:rPr lang="hu-HU" sz="1700" dirty="0">
                <a:latin typeface="Times New Roman"/>
                <a:cs typeface="Times New Roman"/>
              </a:rPr>
              <a:t> &amp; </a:t>
            </a:r>
            <a:r>
              <a:rPr lang="hu-HU" sz="1700" dirty="0" err="1">
                <a:latin typeface="Times New Roman"/>
                <a:cs typeface="Times New Roman"/>
              </a:rPr>
              <a:t>Foreign</a:t>
            </a:r>
            <a:r>
              <a:rPr lang="hu-HU" sz="1700" dirty="0">
                <a:latin typeface="Times New Roman"/>
                <a:cs typeface="Times New Roman"/>
              </a:rPr>
              <a:t> </a:t>
            </a:r>
            <a:r>
              <a:rPr lang="hu-HU" sz="1700" dirty="0" err="1">
                <a:latin typeface="Times New Roman"/>
                <a:cs typeface="Times New Roman"/>
              </a:rPr>
              <a:t>keys</a:t>
            </a:r>
            <a:r>
              <a:rPr lang="hu-HU" sz="1700" dirty="0">
                <a:latin typeface="Times New Roman"/>
                <a:cs typeface="Times New Roman"/>
              </a:rPr>
              <a:t>) szigorú használata.</a:t>
            </a:r>
          </a:p>
        </p:txBody>
      </p:sp>
      <p:pic>
        <p:nvPicPr>
          <p:cNvPr id="3" name="Kép 2" descr="A képen szöveg, képernyőkép, szoftver, Párhuzamos látható&#10;&#10;Lehet, hogy az AI által létrehozott tartalom helytelen.">
            <a:extLst>
              <a:ext uri="{FF2B5EF4-FFF2-40B4-BE49-F238E27FC236}">
                <a16:creationId xmlns:a16="http://schemas.microsoft.com/office/drawing/2014/main" id="{562CD7A0-0F6A-2B25-E484-80EFA8F43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954" y="1434353"/>
            <a:ext cx="6695711" cy="478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84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mbria"/>
              <a:buNone/>
            </a:pPr>
            <a:r>
              <a:rPr lang="hu-HU" sz="4400" i="0" u="none" strike="noStrik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Frontend: 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Felhasználói felület és élmény (UI &amp; UX)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65" name="Google Shape;165;p7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418147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i="0" u="none" strike="noStrike" dirty="0">
                <a:solidFill>
                  <a:srgbClr val="000000"/>
                </a:solidFill>
                <a:latin typeface="Cambria"/>
                <a:ea typeface="Cambria"/>
                <a:cs typeface="Times New Roman"/>
                <a:sym typeface="Arial"/>
              </a:rPr>
              <a:t>Könyvtár:</a:t>
            </a:r>
            <a:r>
              <a:rPr lang="hu-HU" sz="1800" b="0" i="0" u="none" strike="noStrike" dirty="0">
                <a:solidFill>
                  <a:srgbClr val="000000"/>
                </a:solidFill>
                <a:latin typeface="Cambria"/>
                <a:ea typeface="Cambria"/>
                <a:cs typeface="Arial"/>
                <a:sym typeface="Arial"/>
              </a:rPr>
              <a:t> </a:t>
            </a:r>
            <a:r>
              <a:rPr lang="hu-HU" sz="1800" b="0" i="0" u="none" strike="noStrike" dirty="0" err="1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Arial"/>
              </a:rPr>
              <a:t>Tailwind</a:t>
            </a:r>
            <a:r>
              <a:rPr lang="hu-HU" sz="1800" b="0" i="0" u="none" strike="noStrike" dirty="0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Arial"/>
              </a:rPr>
              <a:t> CSS.</a:t>
            </a:r>
            <a:br>
              <a:rPr lang="hu-HU" sz="1800" b="0" i="0" u="none" strike="noStrike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i="0" u="none" strike="noStrike" dirty="0">
                <a:solidFill>
                  <a:srgbClr val="000000"/>
                </a:solidFill>
                <a:latin typeface="Cambria"/>
                <a:ea typeface="Cambria"/>
                <a:cs typeface="Arial"/>
                <a:sym typeface="Arial"/>
              </a:rPr>
              <a:t>Ikonok:</a:t>
            </a:r>
            <a:r>
              <a:rPr lang="hu-HU" sz="1700" b="0" i="0" u="none" strike="noStrike" dirty="0">
                <a:solidFill>
                  <a:srgbClr val="000000"/>
                </a:solidFill>
                <a:latin typeface="Cambria"/>
                <a:ea typeface="Cambria"/>
                <a:cs typeface="Arial"/>
                <a:sym typeface="Arial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Times New Roman"/>
                <a:ea typeface="Cambria"/>
                <a:cs typeface="Times New Roman"/>
                <a:sym typeface="Arial"/>
              </a:rPr>
              <a:t>HeroIcons</a:t>
            </a:r>
            <a:r>
              <a:rPr lang="hu-HU" sz="1800" dirty="0">
                <a:solidFill>
                  <a:srgbClr val="000000"/>
                </a:solidFill>
                <a:latin typeface="Times New Roman"/>
                <a:ea typeface="Cambria"/>
                <a:cs typeface="Times New Roman"/>
                <a:sym typeface="Arial"/>
              </a:rPr>
              <a:t> </a:t>
            </a:r>
            <a:r>
              <a:rPr lang="hu-HU" sz="1800" dirty="0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Arial"/>
              </a:rPr>
              <a:t>a konzisztens megjelenéséért</a:t>
            </a:r>
            <a:r>
              <a:rPr lang="hu-HU" sz="1800" b="0" i="0" u="none" strike="noStrike" dirty="0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Arial"/>
              </a:rPr>
              <a:t>.</a:t>
            </a:r>
            <a:br>
              <a:rPr lang="hu-HU" sz="1800" b="0" i="0" u="none" strike="noStrike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800" b="1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Reszponzivitás</a:t>
            </a:r>
            <a:r>
              <a:rPr lang="hu-HU" sz="18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: </a:t>
            </a:r>
            <a:r>
              <a:rPr lang="hu-HU" sz="170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Mo</a:t>
            </a:r>
            <a:r>
              <a:rPr lang="hu-H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dernizált felhasználói felület, különböző képernyő méretekre.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endParaRPr lang="hu-HU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Keretrendszer:</a:t>
            </a:r>
            <a:r>
              <a:rPr lang="hu-HU" sz="18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React</a:t>
            </a:r>
            <a:r>
              <a:rPr lang="hu-H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JS.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Kép 1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401289C8-B594-CFD0-84BE-BBA3D9DCC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301" y="2285720"/>
            <a:ext cx="6057340" cy="2645149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C7DACE5-42A8-41D1-A7C4-58EE7D5A4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282" y="1219580"/>
            <a:ext cx="2158695" cy="213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eact.js Folder Structure on Windows: A Comprehensive Guide | by Anant |  JavaScript in Plain English">
            <a:extLst>
              <a:ext uri="{FF2B5EF4-FFF2-40B4-BE49-F238E27FC236}">
                <a16:creationId xmlns:a16="http://schemas.microsoft.com/office/drawing/2014/main" id="{B5256701-8FB6-4D84-8131-963E4ED5A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717" y="4257239"/>
            <a:ext cx="2352152" cy="15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mbria"/>
              <a:buNone/>
            </a:pPr>
            <a:r>
              <a:rPr lang="hu-HU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Minőségbiztosítás (Tesztelési stratégia</a:t>
            </a:r>
            <a:r>
              <a:rPr lang="hu-HU" sz="4400" i="0" u="none" strike="noStrik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1" name="Google Shape;171;p8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48482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i="0" u="none" strike="noStrike" dirty="0">
                <a:solidFill>
                  <a:srgbClr val="000000"/>
                </a:solidFill>
                <a:latin typeface="Cambria"/>
                <a:ea typeface="Cambria"/>
                <a:cs typeface="Times New Roman"/>
                <a:sym typeface="Arial"/>
              </a:rPr>
              <a:t>Backend Tesztelés:</a:t>
            </a:r>
            <a:r>
              <a:rPr lang="hu-HU" sz="1700" b="0" i="0" u="none" strike="noStrike" dirty="0">
                <a:solidFill>
                  <a:srgbClr val="000000"/>
                </a:solidFill>
                <a:latin typeface="Cambria"/>
                <a:ea typeface="Cambria"/>
                <a:cs typeface="Times New Roman"/>
                <a:sym typeface="Arial"/>
              </a:rPr>
              <a:t> </a:t>
            </a:r>
            <a:r>
              <a:rPr lang="hu-HU" sz="1700" dirty="0">
                <a:solidFill>
                  <a:srgbClr val="000000"/>
                </a:solidFill>
                <a:latin typeface="Cambria"/>
                <a:ea typeface="Cambria"/>
                <a:cs typeface="Times New Roman"/>
                <a:sym typeface="Arial"/>
              </a:rPr>
              <a:t>Jest.js</a:t>
            </a:r>
            <a:endParaRPr lang="hu-HU" sz="1700" dirty="0">
              <a:latin typeface="Cambria"/>
              <a:ea typeface="Cambria"/>
              <a:cs typeface="Times New Roman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SzPts val="1800"/>
              <a:buFont typeface="Arial"/>
              <a:buChar char="•"/>
            </a:pPr>
            <a:endParaRPr lang="hu-HU" sz="1700" dirty="0">
              <a:solidFill>
                <a:srgbClr val="000000"/>
              </a:solidFill>
              <a:latin typeface="Cambria"/>
              <a:ea typeface="Cambria"/>
              <a:cs typeface="Times New Roman"/>
              <a:sym typeface="Arial"/>
            </a:endParaRPr>
          </a:p>
          <a:p>
            <a:pPr>
              <a:spcBef>
                <a:spcPts val="0"/>
              </a:spcBef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i="0" u="none" strike="noStrike" dirty="0">
                <a:solidFill>
                  <a:srgbClr val="000000"/>
                </a:solidFill>
                <a:latin typeface="Cambria"/>
                <a:ea typeface="Cambria"/>
                <a:cs typeface="Times New Roman"/>
                <a:sym typeface="Arial"/>
              </a:rPr>
              <a:t>Frontend Tesztelés:</a:t>
            </a:r>
            <a:r>
              <a:rPr lang="hu-HU" sz="1700" b="0" i="0" u="none" strike="noStrike" dirty="0">
                <a:solidFill>
                  <a:srgbClr val="000000"/>
                </a:solidFill>
                <a:latin typeface="Cambria"/>
                <a:ea typeface="Cambria"/>
                <a:cs typeface="Times New Roman"/>
                <a:sym typeface="Arial"/>
              </a:rPr>
              <a:t> </a:t>
            </a:r>
            <a:r>
              <a:rPr lang="hu-HU" sz="1700" dirty="0">
                <a:solidFill>
                  <a:srgbClr val="000000"/>
                </a:solidFill>
                <a:latin typeface="Times New Roman"/>
                <a:ea typeface="Cambria"/>
                <a:cs typeface="Times New Roman"/>
                <a:sym typeface="Arial"/>
              </a:rPr>
              <a:t>RobotFramework</a:t>
            </a:r>
            <a:endParaRPr lang="hu-HU" sz="1700" b="0" i="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hu-HU" sz="17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Cél</a:t>
            </a:r>
            <a:r>
              <a:rPr lang="hu-HU" sz="1700" b="1" i="0" u="none" strike="noStrik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:</a:t>
            </a:r>
            <a:r>
              <a:rPr lang="hu-HU" sz="1700" b="0" i="0" u="none" strike="noStrik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hu-HU" sz="1700" b="0" i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Ellenőrzött adatforgalom és hibamentes kritikus útvonalak.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Kép 1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25EFA4D6-020C-2244-9FEB-852C45CDF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64" y="1546972"/>
            <a:ext cx="4438091" cy="2744321"/>
          </a:xfrm>
          <a:prstGeom prst="rect">
            <a:avLst/>
          </a:prstGeom>
        </p:spPr>
      </p:pic>
      <p:pic>
        <p:nvPicPr>
          <p:cNvPr id="3" name="Kép 2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64272094-1702-8443-BCC2-444B4A28D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776" y="3759853"/>
            <a:ext cx="4977653" cy="28681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mbria"/>
              <a:buNone/>
            </a:pPr>
            <a:r>
              <a:rPr lang="hu-HU" sz="4400" i="0" u="none" strike="noStrike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9. Demó és Kérdések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3" name="Google Shape;183;p1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spcBef>
                <a:spcPts val="0"/>
              </a:spcBef>
              <a:buClr>
                <a:srgbClr val="000000"/>
              </a:buClr>
              <a:buSzPts val="1800"/>
              <a:buNone/>
            </a:pPr>
            <a:r>
              <a:rPr lang="hu-HU" sz="18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hu-HU" sz="18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hu-HU" b="0" i="0" u="none" strike="noStrike" dirty="0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Arial"/>
              </a:rPr>
              <a:t>Videós </a:t>
            </a:r>
            <a:r>
              <a:rPr lang="hu-HU" dirty="0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Arial"/>
              </a:rPr>
              <a:t>bemutató a </a:t>
            </a:r>
            <a:r>
              <a:rPr lang="hu-HU" dirty="0" err="1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Arial"/>
              </a:rPr>
              <a:t>Corelytics</a:t>
            </a:r>
            <a:r>
              <a:rPr lang="hu-HU" dirty="0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Arial"/>
              </a:rPr>
              <a:t> platformról!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24975BF4-4376-4525-A177-137C4065BBFE}"/>
              </a:ext>
            </a:extLst>
          </p:cNvPr>
          <p:cNvSpPr/>
          <p:nvPr/>
        </p:nvSpPr>
        <p:spPr>
          <a:xfrm>
            <a:off x="1713295" y="2764857"/>
            <a:ext cx="9057373" cy="33279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dirty="0">
                <a:ea typeface="Calibri"/>
                <a:cs typeface="Calibri"/>
              </a:rPr>
              <a:t>Ide a video</a:t>
            </a:r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dirty="0"/>
          </a:p>
        </p:txBody>
      </p:sp>
      <p:sp>
        <p:nvSpPr>
          <p:cNvPr id="189" name="Google Shape;189;p1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u-HU" sz="5400" b="1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Köszönjük figyelmüket!</a:t>
            </a:r>
            <a:endParaRPr sz="5400" b="1" i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347</Words>
  <Application>Microsoft Office PowerPoint</Application>
  <PresentationFormat>Szélesvásznú</PresentationFormat>
  <Paragraphs>70</Paragraphs>
  <Slides>12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Times New Roman</vt:lpstr>
      <vt:lpstr>Office-téma</vt:lpstr>
      <vt:lpstr>PowerPoint-bemutató</vt:lpstr>
      <vt:lpstr>Bevezetés: Probléma és Megoldás</vt:lpstr>
      <vt:lpstr>Csapatmunka</vt:lpstr>
      <vt:lpstr>A program funkciói</vt:lpstr>
      <vt:lpstr>Rendszer felépítés  (Modern Stack)</vt:lpstr>
      <vt:lpstr>Backend &amp; API Fejlesztés</vt:lpstr>
      <vt:lpstr>Adatbázis &amp; Relációs modell</vt:lpstr>
      <vt:lpstr>Adatbázis struktúra</vt:lpstr>
      <vt:lpstr>Frontend: Felhasználói felület és élmény (UI &amp; UX)</vt:lpstr>
      <vt:lpstr>Minőségbiztosítás (Tesztelési stratégia)</vt:lpstr>
      <vt:lpstr>9. Demó és Kérdések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Studify</dc:title>
  <dc:creator>Vadkerti-Tóth Ádám</dc:creator>
  <cp:lastModifiedBy>Mészáros Imre</cp:lastModifiedBy>
  <cp:revision>241</cp:revision>
  <dcterms:created xsi:type="dcterms:W3CDTF">2026-02-27T12:20:27Z</dcterms:created>
  <dcterms:modified xsi:type="dcterms:W3CDTF">2026-03-06T12:08:50Z</dcterms:modified>
</cp:coreProperties>
</file>